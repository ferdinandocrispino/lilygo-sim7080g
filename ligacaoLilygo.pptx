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2890" autoAdjust="0"/>
  </p:normalViewPr>
  <p:slideViewPr>
    <p:cSldViewPr>
      <p:cViewPr>
        <p:scale>
          <a:sx n="118" d="100"/>
          <a:sy n="118" d="100"/>
        </p:scale>
        <p:origin x="-5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F3A0-9D7B-47C1-AB17-B21DB3AD0D97}" type="datetimeFigureOut">
              <a:rPr lang="pt-BR" smtClean="0"/>
              <a:pPr/>
              <a:t>23/05/2026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3A47C-B6B9-4A57-B04F-1C324213EE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4-20 mA do sensor de pressão piezoresistiv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584415">
            <a:off x="88010" y="556636"/>
            <a:ext cx="1284054" cy="1033688"/>
          </a:xfrm>
          <a:prstGeom prst="rect">
            <a:avLst/>
          </a:prstGeom>
          <a:noFill/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80528" y="136267"/>
            <a:ext cx="6392776" cy="1846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9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cs typeface="Arial" pitchFamily="34" charset="0"/>
              </a:rPr>
              <a:t>SIM7080G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 uses </a:t>
            </a:r>
            <a:r>
              <a:rPr kumimoji="0" lang="pt-BR" sz="9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cs typeface="Arial" pitchFamily="34" charset="0"/>
              </a:rPr>
              <a:t>Octal</a:t>
            </a:r>
            <a:r>
              <a:rPr kumimoji="0" lang="pt-BR" sz="9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cs typeface="Arial" pitchFamily="34" charset="0"/>
              </a:rPr>
              <a:t> SPI PSRAM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,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so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 </a:t>
            </a: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GPIO35~GPIO37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 is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unavailable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.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Please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 do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not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 use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these</a:t>
            </a: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 </a:t>
            </a:r>
            <a:r>
              <a:rPr kumimoji="0" lang="pt-BR" sz="1200" b="0" i="0" u="none" strike="noStrike" cap="none" normalizeH="0" baseline="0" dirty="0" err="1" smtClean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  <a:cs typeface="Arial" pitchFamily="34" charset="0"/>
              </a:rPr>
              <a:t>IOs</a:t>
            </a:r>
            <a:r>
              <a:rPr kumimoji="0" lang="pt-BR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https://www.electronics-lab.com/wp-content/uploads/2023/02/T-SIM7080G-S3-pinou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1052736"/>
            <a:ext cx="5472608" cy="3784795"/>
          </a:xfrm>
          <a:prstGeom prst="rect">
            <a:avLst/>
          </a:prstGeom>
          <a:noFill/>
        </p:spPr>
      </p:pic>
      <p:pic>
        <p:nvPicPr>
          <p:cNvPr id="1032" name="Picture 8" descr="DC/DC Step-up converter with 4-30V output — Arduino Official Stor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6296" y="2780928"/>
            <a:ext cx="1080120" cy="1080120"/>
          </a:xfrm>
          <a:prstGeom prst="rect">
            <a:avLst/>
          </a:prstGeom>
          <a:noFill/>
        </p:spPr>
      </p:pic>
      <p:sp>
        <p:nvSpPr>
          <p:cNvPr id="3" name="AutoShape 4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6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4" name="AutoShape 10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6" name="AutoShape 12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8" name="AutoShape 14" descr="Ads1115 adc módulo conversor analógico-digital, com amplificador de ganho  programável, 16 bits i2c 2.0v a 5.5v para arduino raspberry pi - AliExpres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40" name="AutoShape 16" descr="https://ae01.alicdn.com/kf/Sb1ecc1c280024d0d8fa65688cbe7b008P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42" name="AutoShape 18" descr="https://ae01.alicdn.com/kf/Sb1ecc1c280024d0d8fa65688cbe7b008P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24328" y="1257473"/>
            <a:ext cx="558070" cy="947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" name="Conector angulado 31"/>
          <p:cNvCxnSpPr/>
          <p:nvPr/>
        </p:nvCxnSpPr>
        <p:spPr>
          <a:xfrm flipV="1">
            <a:off x="4860032" y="1340769"/>
            <a:ext cx="2664296" cy="360039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/>
          <p:nvPr/>
        </p:nvCxnSpPr>
        <p:spPr>
          <a:xfrm flipV="1">
            <a:off x="5292080" y="1512000"/>
            <a:ext cx="2232248" cy="165600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Conector angulado 39"/>
          <p:cNvCxnSpPr/>
          <p:nvPr/>
        </p:nvCxnSpPr>
        <p:spPr>
          <a:xfrm flipV="1">
            <a:off x="5292080" y="1584000"/>
            <a:ext cx="2232248" cy="1728000"/>
          </a:xfrm>
          <a:prstGeom prst="bentConnector3">
            <a:avLst>
              <a:gd name="adj1" fmla="val 68445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Conector angulado 46"/>
          <p:cNvCxnSpPr/>
          <p:nvPr/>
        </p:nvCxnSpPr>
        <p:spPr>
          <a:xfrm rot="16200000" flipV="1">
            <a:off x="7344308" y="1520788"/>
            <a:ext cx="288032" cy="72008"/>
          </a:xfrm>
          <a:prstGeom prst="bentConnector3">
            <a:avLst>
              <a:gd name="adj1" fmla="val 73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E:\chave_liga_deslig_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68344" y="4725144"/>
            <a:ext cx="993018" cy="1008000"/>
          </a:xfrm>
          <a:prstGeom prst="rect">
            <a:avLst/>
          </a:prstGeom>
          <a:noFill/>
        </p:spPr>
      </p:pic>
      <p:cxnSp>
        <p:nvCxnSpPr>
          <p:cNvPr id="39" name="Conector angulado 38"/>
          <p:cNvCxnSpPr/>
          <p:nvPr/>
        </p:nvCxnSpPr>
        <p:spPr>
          <a:xfrm rot="16200000" flipH="1">
            <a:off x="7416316" y="3753036"/>
            <a:ext cx="1296144" cy="1080120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7740352" y="4653136"/>
            <a:ext cx="7906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 smtClean="0"/>
              <a:t>DMP4065S-7</a:t>
            </a:r>
            <a:endParaRPr lang="pt-BR" sz="900" dirty="0"/>
          </a:p>
        </p:txBody>
      </p:sp>
      <p:cxnSp>
        <p:nvCxnSpPr>
          <p:cNvPr id="49" name="Conector angulado 48"/>
          <p:cNvCxnSpPr/>
          <p:nvPr/>
        </p:nvCxnSpPr>
        <p:spPr>
          <a:xfrm>
            <a:off x="1763688" y="2708920"/>
            <a:ext cx="6840760" cy="3384376"/>
          </a:xfrm>
          <a:prstGeom prst="bentConnector3">
            <a:avLst>
              <a:gd name="adj1" fmla="val -10632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/>
          <p:nvPr/>
        </p:nvCxnSpPr>
        <p:spPr>
          <a:xfrm flipV="1">
            <a:off x="8604448" y="5517232"/>
            <a:ext cx="0" cy="57606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7236296" y="4653136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3V3</a:t>
            </a:r>
            <a:endParaRPr lang="pt-BR" sz="1000" dirty="0"/>
          </a:p>
        </p:txBody>
      </p:sp>
      <p:sp>
        <p:nvSpPr>
          <p:cNvPr id="57" name="CaixaDeTexto 56"/>
          <p:cNvSpPr txBox="1"/>
          <p:nvPr/>
        </p:nvSpPr>
        <p:spPr>
          <a:xfrm>
            <a:off x="7092280" y="1124744"/>
            <a:ext cx="466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3V3</a:t>
            </a:r>
            <a:endParaRPr lang="pt-BR" sz="1000" dirty="0"/>
          </a:p>
        </p:txBody>
      </p:sp>
      <p:sp>
        <p:nvSpPr>
          <p:cNvPr id="58" name="CaixaDeTexto 57"/>
          <p:cNvSpPr txBox="1"/>
          <p:nvPr/>
        </p:nvSpPr>
        <p:spPr>
          <a:xfrm>
            <a:off x="8316416" y="3038763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9V</a:t>
            </a:r>
            <a:endParaRPr lang="pt-BR" sz="1000" dirty="0"/>
          </a:p>
        </p:txBody>
      </p:sp>
      <p:cxnSp>
        <p:nvCxnSpPr>
          <p:cNvPr id="78" name="Conector angulado 77"/>
          <p:cNvCxnSpPr>
            <a:endCxn id="1032" idx="1"/>
          </p:cNvCxnSpPr>
          <p:nvPr/>
        </p:nvCxnSpPr>
        <p:spPr>
          <a:xfrm rot="5400000">
            <a:off x="6324544" y="2330878"/>
            <a:ext cx="1901862" cy="78358"/>
          </a:xfrm>
          <a:prstGeom prst="bentConnector4">
            <a:avLst>
              <a:gd name="adj1" fmla="val 35802"/>
              <a:gd name="adj2" fmla="val 39173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Forma 40"/>
          <p:cNvCxnSpPr>
            <a:stCxn id="1032" idx="1"/>
            <a:endCxn id="2" idx="2"/>
          </p:cNvCxnSpPr>
          <p:nvPr/>
        </p:nvCxnSpPr>
        <p:spPr>
          <a:xfrm rot="10800000" flipH="1" flipV="1">
            <a:off x="7236295" y="3320988"/>
            <a:ext cx="928557" cy="2412156"/>
          </a:xfrm>
          <a:prstGeom prst="bentConnector4">
            <a:avLst>
              <a:gd name="adj1" fmla="val -24619"/>
              <a:gd name="adj2" fmla="val 1094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do 49"/>
          <p:cNvCxnSpPr/>
          <p:nvPr/>
        </p:nvCxnSpPr>
        <p:spPr>
          <a:xfrm>
            <a:off x="3131840" y="3501008"/>
            <a:ext cx="4608512" cy="1440160"/>
          </a:xfrm>
          <a:prstGeom prst="bentConnector3">
            <a:avLst>
              <a:gd name="adj1" fmla="val -38573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static.wixstatic.com/media/04fe82_c51a7297bd894bd3a3c9757b188157e3~mv2.png/v1/fill/w_350,h_293,al_c,q_85,usm_0.66_1.00_0.01,enc_avif,quality_auto/04fe82_c51a7297bd894bd3a3c9757b188157e3~mv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9723802">
            <a:off x="1620000" y="504000"/>
            <a:ext cx="1032083" cy="864000"/>
          </a:xfrm>
          <a:prstGeom prst="rect">
            <a:avLst/>
          </a:prstGeom>
          <a:noFill/>
        </p:spPr>
      </p:pic>
      <p:cxnSp>
        <p:nvCxnSpPr>
          <p:cNvPr id="87" name="Conector angulado 86"/>
          <p:cNvCxnSpPr/>
          <p:nvPr/>
        </p:nvCxnSpPr>
        <p:spPr>
          <a:xfrm rot="10800000">
            <a:off x="1475656" y="476672"/>
            <a:ext cx="1080120" cy="360040"/>
          </a:xfrm>
          <a:prstGeom prst="bentConnector3">
            <a:avLst>
              <a:gd name="adj1" fmla="val -19434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 rot="10800000">
            <a:off x="2555776" y="836712"/>
            <a:ext cx="5688632" cy="2448272"/>
          </a:xfrm>
          <a:prstGeom prst="bentConnector3">
            <a:avLst>
              <a:gd name="adj1" fmla="val -7709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do 27"/>
          <p:cNvCxnSpPr/>
          <p:nvPr/>
        </p:nvCxnSpPr>
        <p:spPr>
          <a:xfrm>
            <a:off x="2483768" y="908720"/>
            <a:ext cx="5040560" cy="936104"/>
          </a:xfrm>
          <a:prstGeom prst="bentConnector3">
            <a:avLst>
              <a:gd name="adj1" fmla="val 806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/>
          <p:nvPr/>
        </p:nvCxnSpPr>
        <p:spPr>
          <a:xfrm rot="10800000">
            <a:off x="2483768" y="980728"/>
            <a:ext cx="5616624" cy="2016224"/>
          </a:xfrm>
          <a:prstGeom prst="bentConnector3">
            <a:avLst>
              <a:gd name="adj1" fmla="val -698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do 34"/>
          <p:cNvCxnSpPr/>
          <p:nvPr/>
        </p:nvCxnSpPr>
        <p:spPr>
          <a:xfrm flipV="1">
            <a:off x="3203848" y="1412776"/>
            <a:ext cx="4320480" cy="2016224"/>
          </a:xfrm>
          <a:prstGeom prst="bentConnector3">
            <a:avLst>
              <a:gd name="adj1" fmla="val -4270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a 30"/>
          <p:cNvCxnSpPr/>
          <p:nvPr/>
        </p:nvCxnSpPr>
        <p:spPr>
          <a:xfrm rot="5400000">
            <a:off x="1007608" y="584680"/>
            <a:ext cx="576065" cy="360047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do 32"/>
          <p:cNvCxnSpPr/>
          <p:nvPr/>
        </p:nvCxnSpPr>
        <p:spPr>
          <a:xfrm rot="10800000" flipV="1">
            <a:off x="1043608" y="836712"/>
            <a:ext cx="720080" cy="14401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/>
          <p:cNvSpPr txBox="1"/>
          <p:nvPr/>
        </p:nvSpPr>
        <p:spPr>
          <a:xfrm>
            <a:off x="1835696" y="446475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 smtClean="0"/>
              <a:t>Saida</a:t>
            </a:r>
            <a:r>
              <a:rPr lang="pt-BR" sz="1000" dirty="0" smtClean="0"/>
              <a:t>: 3V3</a:t>
            </a:r>
            <a:endParaRPr lang="pt-BR" sz="1000" dirty="0"/>
          </a:p>
        </p:txBody>
      </p:sp>
      <p:sp>
        <p:nvSpPr>
          <p:cNvPr id="108" name="CaixaDeTexto 107"/>
          <p:cNvSpPr txBox="1"/>
          <p:nvPr/>
        </p:nvSpPr>
        <p:spPr>
          <a:xfrm>
            <a:off x="7596336" y="3573016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3V3</a:t>
            </a:r>
            <a:endParaRPr lang="pt-BR" sz="1000" dirty="0"/>
          </a:p>
        </p:txBody>
      </p:sp>
      <p:sp>
        <p:nvSpPr>
          <p:cNvPr id="111" name="Retângulo 110"/>
          <p:cNvSpPr/>
          <p:nvPr/>
        </p:nvSpPr>
        <p:spPr>
          <a:xfrm>
            <a:off x="2771800" y="404664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/>
              <a:t>para conf. tensão de 3.3V de </a:t>
            </a:r>
            <a:r>
              <a:rPr lang="pt-BR" sz="1200" dirty="0" err="1" smtClean="0"/>
              <a:t>saida</a:t>
            </a:r>
            <a:r>
              <a:rPr lang="pt-BR" sz="1200" dirty="0" smtClean="0"/>
              <a:t>  todos os pinos devem estar abertos</a:t>
            </a:r>
            <a:endParaRPr lang="pt-BR" sz="1200" dirty="0"/>
          </a:p>
        </p:txBody>
      </p:sp>
      <p:cxnSp>
        <p:nvCxnSpPr>
          <p:cNvPr id="59" name="Conector angulado 58"/>
          <p:cNvCxnSpPr>
            <a:endCxn id="64" idx="3"/>
          </p:cNvCxnSpPr>
          <p:nvPr/>
        </p:nvCxnSpPr>
        <p:spPr>
          <a:xfrm rot="10800000">
            <a:off x="1259632" y="1952836"/>
            <a:ext cx="504056" cy="1080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do 60"/>
          <p:cNvCxnSpPr>
            <a:endCxn id="62" idx="3"/>
          </p:cNvCxnSpPr>
          <p:nvPr/>
        </p:nvCxnSpPr>
        <p:spPr>
          <a:xfrm rot="10800000">
            <a:off x="1259632" y="1736812"/>
            <a:ext cx="504056" cy="1800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ângulo 68"/>
          <p:cNvSpPr/>
          <p:nvPr/>
        </p:nvSpPr>
        <p:spPr>
          <a:xfrm>
            <a:off x="0" y="1412776"/>
            <a:ext cx="10436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Deleta arquivo Temporário</a:t>
            </a:r>
            <a:endParaRPr lang="pt-BR" sz="800" dirty="0"/>
          </a:p>
        </p:txBody>
      </p:sp>
      <p:sp>
        <p:nvSpPr>
          <p:cNvPr id="70" name="Retângulo 69"/>
          <p:cNvSpPr/>
          <p:nvPr/>
        </p:nvSpPr>
        <p:spPr>
          <a:xfrm>
            <a:off x="0" y="1772816"/>
            <a:ext cx="115212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Will </a:t>
            </a:r>
            <a:r>
              <a:rPr lang="pt-BR" sz="800" dirty="0" err="1" smtClean="0"/>
              <a:t>Not</a:t>
            </a:r>
            <a:r>
              <a:rPr lang="pt-BR" sz="800" dirty="0" smtClean="0"/>
              <a:t> </a:t>
            </a:r>
            <a:r>
              <a:rPr lang="pt-BR" sz="800" dirty="0" err="1" smtClean="0"/>
              <a:t>sleep</a:t>
            </a:r>
            <a:endParaRPr lang="pt-BR" sz="800" dirty="0"/>
          </a:p>
        </p:txBody>
      </p:sp>
      <p:cxnSp>
        <p:nvCxnSpPr>
          <p:cNvPr id="45" name="Conector angulado 44"/>
          <p:cNvCxnSpPr>
            <a:endCxn id="67" idx="3"/>
          </p:cNvCxnSpPr>
          <p:nvPr/>
        </p:nvCxnSpPr>
        <p:spPr>
          <a:xfrm rot="10800000">
            <a:off x="1259632" y="2168861"/>
            <a:ext cx="504056" cy="4870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/>
          <p:cNvSpPr/>
          <p:nvPr/>
        </p:nvSpPr>
        <p:spPr>
          <a:xfrm>
            <a:off x="0" y="1988840"/>
            <a:ext cx="1043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Deleta arquivo</a:t>
            </a:r>
          </a:p>
          <a:p>
            <a:r>
              <a:rPr lang="pt-BR" sz="800" dirty="0" smtClean="0"/>
              <a:t>Permanente de dados</a:t>
            </a:r>
            <a:endParaRPr lang="pt-BR" sz="800" dirty="0"/>
          </a:p>
        </p:txBody>
      </p:sp>
      <p:cxnSp>
        <p:nvCxnSpPr>
          <p:cNvPr id="53" name="Conector angulado 52"/>
          <p:cNvCxnSpPr>
            <a:endCxn id="71" idx="3"/>
          </p:cNvCxnSpPr>
          <p:nvPr/>
        </p:nvCxnSpPr>
        <p:spPr>
          <a:xfrm rot="10800000" flipV="1">
            <a:off x="1259632" y="2348880"/>
            <a:ext cx="504056" cy="360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ângulo 65"/>
          <p:cNvSpPr/>
          <p:nvPr/>
        </p:nvSpPr>
        <p:spPr>
          <a:xfrm>
            <a:off x="0" y="2420888"/>
            <a:ext cx="11521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Leitura dados permanentes</a:t>
            </a:r>
            <a:endParaRPr lang="pt-BR" sz="800" dirty="0"/>
          </a:p>
        </p:txBody>
      </p:sp>
      <p:sp>
        <p:nvSpPr>
          <p:cNvPr id="60" name="Retângulo 59"/>
          <p:cNvSpPr/>
          <p:nvPr/>
        </p:nvSpPr>
        <p:spPr>
          <a:xfrm>
            <a:off x="1043608" y="1700808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1187624" y="1700808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 62"/>
          <p:cNvSpPr/>
          <p:nvPr/>
        </p:nvSpPr>
        <p:spPr>
          <a:xfrm>
            <a:off x="1043608" y="1916832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 63"/>
          <p:cNvSpPr/>
          <p:nvPr/>
        </p:nvSpPr>
        <p:spPr>
          <a:xfrm>
            <a:off x="1187624" y="1916832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tângulo 64"/>
          <p:cNvSpPr/>
          <p:nvPr/>
        </p:nvSpPr>
        <p:spPr>
          <a:xfrm>
            <a:off x="1043608" y="2132856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 66"/>
          <p:cNvSpPr/>
          <p:nvPr/>
        </p:nvSpPr>
        <p:spPr>
          <a:xfrm>
            <a:off x="1187624" y="2132856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/>
          <p:cNvSpPr/>
          <p:nvPr/>
        </p:nvSpPr>
        <p:spPr>
          <a:xfrm>
            <a:off x="1043608" y="234888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/>
          <p:cNvSpPr/>
          <p:nvPr/>
        </p:nvSpPr>
        <p:spPr>
          <a:xfrm>
            <a:off x="1187624" y="234888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3" name="Conector angulado 72"/>
          <p:cNvCxnSpPr>
            <a:stCxn id="60" idx="1"/>
            <a:endCxn id="68" idx="1"/>
          </p:cNvCxnSpPr>
          <p:nvPr/>
        </p:nvCxnSpPr>
        <p:spPr>
          <a:xfrm rot="10800000" flipV="1">
            <a:off x="1043608" y="1736812"/>
            <a:ext cx="12700" cy="648072"/>
          </a:xfrm>
          <a:prstGeom prst="bentConnector3">
            <a:avLst>
              <a:gd name="adj1" fmla="val 75385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do 76"/>
          <p:cNvCxnSpPr>
            <a:stCxn id="60" idx="1"/>
            <a:endCxn id="63" idx="1"/>
          </p:cNvCxnSpPr>
          <p:nvPr/>
        </p:nvCxnSpPr>
        <p:spPr>
          <a:xfrm rot="10800000" flipV="1">
            <a:off x="1043608" y="1736812"/>
            <a:ext cx="12700" cy="216024"/>
          </a:xfrm>
          <a:prstGeom prst="bentConnector3">
            <a:avLst>
              <a:gd name="adj1" fmla="val 723079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do 79"/>
          <p:cNvCxnSpPr>
            <a:stCxn id="63" idx="1"/>
            <a:endCxn id="65" idx="1"/>
          </p:cNvCxnSpPr>
          <p:nvPr/>
        </p:nvCxnSpPr>
        <p:spPr>
          <a:xfrm rot="10800000" flipV="1">
            <a:off x="1043608" y="1952836"/>
            <a:ext cx="12700" cy="216024"/>
          </a:xfrm>
          <a:prstGeom prst="bentConnector3">
            <a:avLst>
              <a:gd name="adj1" fmla="val 784622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Forma 90"/>
          <p:cNvCxnSpPr>
            <a:stCxn id="60" idx="0"/>
          </p:cNvCxnSpPr>
          <p:nvPr/>
        </p:nvCxnSpPr>
        <p:spPr>
          <a:xfrm rot="5400000" flipH="1" flipV="1">
            <a:off x="2141730" y="638690"/>
            <a:ext cx="12700" cy="2124236"/>
          </a:xfrm>
          <a:prstGeom prst="bentConnector4">
            <a:avLst>
              <a:gd name="adj1" fmla="val 1400000"/>
              <a:gd name="adj2" fmla="val 50847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6588224" y="980728"/>
            <a:ext cx="18742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dirty="0" smtClean="0"/>
              <a:t>0x48 :</a:t>
            </a:r>
            <a:r>
              <a:rPr lang="pt-BR" sz="1000" dirty="0" smtClean="0"/>
              <a:t> ADDR conectado ao </a:t>
            </a:r>
            <a:r>
              <a:rPr lang="pt-BR" sz="1000" b="1" dirty="0" smtClean="0"/>
              <a:t>GND</a:t>
            </a:r>
            <a:r>
              <a:rPr lang="pt-BR" sz="1000" dirty="0" smtClean="0"/>
              <a:t>.</a:t>
            </a:r>
            <a:endParaRPr lang="pt-B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323528" y="1124744"/>
            <a:ext cx="2088232" cy="22322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" name="Retângulo 3"/>
          <p:cNvSpPr/>
          <p:nvPr/>
        </p:nvSpPr>
        <p:spPr>
          <a:xfrm>
            <a:off x="683568" y="476720"/>
            <a:ext cx="1368152" cy="28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Wake</a:t>
            </a:r>
            <a:r>
              <a:rPr lang="pt-BR" sz="1200" dirty="0" smtClean="0"/>
              <a:t> UP</a:t>
            </a:r>
            <a:endParaRPr lang="pt-BR" sz="1200" dirty="0"/>
          </a:p>
        </p:txBody>
      </p:sp>
      <p:sp>
        <p:nvSpPr>
          <p:cNvPr id="5" name="Retângulo 4"/>
          <p:cNvSpPr/>
          <p:nvPr/>
        </p:nvSpPr>
        <p:spPr>
          <a:xfrm>
            <a:off x="611560" y="1844824"/>
            <a:ext cx="15121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Connect</a:t>
            </a:r>
            <a:r>
              <a:rPr lang="pt-BR" sz="1200" dirty="0" smtClean="0"/>
              <a:t> to VIVO-IOT</a:t>
            </a:r>
            <a:endParaRPr lang="pt-BR" sz="1200" dirty="0"/>
          </a:p>
        </p:txBody>
      </p:sp>
      <p:sp>
        <p:nvSpPr>
          <p:cNvPr id="6" name="Retângulo 5"/>
          <p:cNvSpPr/>
          <p:nvPr/>
        </p:nvSpPr>
        <p:spPr>
          <a:xfrm>
            <a:off x="611560" y="1412808"/>
            <a:ext cx="15121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Config</a:t>
            </a:r>
            <a:r>
              <a:rPr lang="pt-BR" sz="1200" dirty="0" smtClean="0"/>
              <a:t> SIM</a:t>
            </a:r>
            <a:endParaRPr lang="pt-BR" sz="1200" dirty="0"/>
          </a:p>
        </p:txBody>
      </p:sp>
      <p:sp>
        <p:nvSpPr>
          <p:cNvPr id="7" name="Retângulo 6"/>
          <p:cNvSpPr/>
          <p:nvPr/>
        </p:nvSpPr>
        <p:spPr>
          <a:xfrm>
            <a:off x="611560" y="2204864"/>
            <a:ext cx="15121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Get</a:t>
            </a:r>
            <a:r>
              <a:rPr lang="pt-BR" sz="1200" dirty="0" smtClean="0"/>
              <a:t> </a:t>
            </a:r>
            <a:r>
              <a:rPr lang="pt-BR" sz="1200" dirty="0" err="1" smtClean="0"/>
              <a:t>Clock</a:t>
            </a:r>
            <a:r>
              <a:rPr lang="pt-BR" sz="1200" dirty="0" smtClean="0"/>
              <a:t> - NTP</a:t>
            </a:r>
            <a:endParaRPr lang="pt-BR" sz="1200" dirty="0"/>
          </a:p>
        </p:txBody>
      </p:sp>
      <p:sp>
        <p:nvSpPr>
          <p:cNvPr id="8" name="Retângulo 7"/>
          <p:cNvSpPr/>
          <p:nvPr/>
        </p:nvSpPr>
        <p:spPr>
          <a:xfrm>
            <a:off x="611560" y="2924944"/>
            <a:ext cx="15121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Connect</a:t>
            </a:r>
            <a:r>
              <a:rPr lang="pt-BR" sz="1200" dirty="0" smtClean="0"/>
              <a:t> to MQTT</a:t>
            </a:r>
            <a:endParaRPr lang="pt-BR" sz="1200" dirty="0"/>
          </a:p>
        </p:txBody>
      </p:sp>
      <p:sp>
        <p:nvSpPr>
          <p:cNvPr id="9" name="Retângulo 8"/>
          <p:cNvSpPr/>
          <p:nvPr/>
        </p:nvSpPr>
        <p:spPr>
          <a:xfrm>
            <a:off x="791580" y="3717032"/>
            <a:ext cx="1368152" cy="18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 smtClean="0"/>
              <a:t>Wait</a:t>
            </a:r>
            <a:r>
              <a:rPr lang="pt-BR" sz="1000" dirty="0" smtClean="0"/>
              <a:t> 30seg</a:t>
            </a:r>
            <a:endParaRPr lang="pt-BR" sz="1000" dirty="0"/>
          </a:p>
        </p:txBody>
      </p:sp>
      <p:sp>
        <p:nvSpPr>
          <p:cNvPr id="10" name="Retângulo 9"/>
          <p:cNvSpPr/>
          <p:nvPr/>
        </p:nvSpPr>
        <p:spPr>
          <a:xfrm>
            <a:off x="791580" y="4077072"/>
            <a:ext cx="1368152" cy="18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Read Sensor</a:t>
            </a:r>
            <a:endParaRPr lang="pt-BR" sz="1000" dirty="0"/>
          </a:p>
        </p:txBody>
      </p:sp>
      <p:sp>
        <p:nvSpPr>
          <p:cNvPr id="11" name="Retângulo 10"/>
          <p:cNvSpPr/>
          <p:nvPr/>
        </p:nvSpPr>
        <p:spPr>
          <a:xfrm>
            <a:off x="575556" y="6273336"/>
            <a:ext cx="1800200" cy="18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 smtClean="0"/>
              <a:t>Send</a:t>
            </a:r>
            <a:r>
              <a:rPr lang="pt-BR" sz="1000" dirty="0" smtClean="0"/>
              <a:t> Data to MQTT</a:t>
            </a:r>
            <a:endParaRPr lang="pt-BR" sz="1000" dirty="0"/>
          </a:p>
        </p:txBody>
      </p:sp>
      <p:sp>
        <p:nvSpPr>
          <p:cNvPr id="12" name="Retângulo 11"/>
          <p:cNvSpPr/>
          <p:nvPr/>
        </p:nvSpPr>
        <p:spPr>
          <a:xfrm>
            <a:off x="575556" y="6525344"/>
            <a:ext cx="1800200" cy="1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 smtClean="0"/>
              <a:t>Go</a:t>
            </a:r>
            <a:r>
              <a:rPr lang="pt-BR" sz="1000" dirty="0" smtClean="0"/>
              <a:t> to </a:t>
            </a:r>
            <a:r>
              <a:rPr lang="pt-BR" sz="1000" dirty="0" err="1" smtClean="0"/>
              <a:t>sleep</a:t>
            </a:r>
            <a:endParaRPr lang="pt-BR" sz="1000" dirty="0"/>
          </a:p>
        </p:txBody>
      </p:sp>
      <p:sp>
        <p:nvSpPr>
          <p:cNvPr id="14" name="Retângulo 13"/>
          <p:cNvSpPr/>
          <p:nvPr/>
        </p:nvSpPr>
        <p:spPr>
          <a:xfrm>
            <a:off x="341530" y="3501008"/>
            <a:ext cx="3582398" cy="331236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1101000" y="1135777"/>
            <a:ext cx="53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setup</a:t>
            </a:r>
            <a:endParaRPr lang="pt-BR" sz="1200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367644" y="764720"/>
            <a:ext cx="0" cy="360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1229435" y="350100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Loop</a:t>
            </a:r>
            <a:endParaRPr lang="pt-BR" sz="1200" dirty="0"/>
          </a:p>
        </p:txBody>
      </p:sp>
      <p:cxnSp>
        <p:nvCxnSpPr>
          <p:cNvPr id="20" name="Forma 19"/>
          <p:cNvCxnSpPr>
            <a:stCxn id="5" idx="3"/>
            <a:endCxn id="13" idx="0"/>
          </p:cNvCxnSpPr>
          <p:nvPr/>
        </p:nvCxnSpPr>
        <p:spPr>
          <a:xfrm flipH="1" flipV="1">
            <a:off x="1367644" y="1124744"/>
            <a:ext cx="756084" cy="864080"/>
          </a:xfrm>
          <a:prstGeom prst="bentConnector4">
            <a:avLst>
              <a:gd name="adj1" fmla="val -68330"/>
              <a:gd name="adj2" fmla="val 12645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orma 22"/>
          <p:cNvCxnSpPr>
            <a:stCxn id="8" idx="3"/>
            <a:endCxn id="13" idx="0"/>
          </p:cNvCxnSpPr>
          <p:nvPr/>
        </p:nvCxnSpPr>
        <p:spPr>
          <a:xfrm flipH="1" flipV="1">
            <a:off x="1367644" y="1124744"/>
            <a:ext cx="756084" cy="1944200"/>
          </a:xfrm>
          <a:prstGeom prst="bentConnector4">
            <a:avLst>
              <a:gd name="adj1" fmla="val -205717"/>
              <a:gd name="adj2" fmla="val 111758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627784" y="2780928"/>
            <a:ext cx="882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err="1" smtClean="0"/>
              <a:t>If</a:t>
            </a:r>
            <a:r>
              <a:rPr lang="pt-BR" sz="1200" dirty="0" smtClean="0"/>
              <a:t> </a:t>
            </a:r>
            <a:r>
              <a:rPr lang="pt-BR" sz="1200" dirty="0" err="1" smtClean="0"/>
              <a:t>problem</a:t>
            </a:r>
            <a:r>
              <a:rPr lang="pt-BR" sz="1200" dirty="0" smtClean="0"/>
              <a:t>!</a:t>
            </a:r>
            <a:endParaRPr lang="pt-BR" sz="12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2771800" y="1628800"/>
            <a:ext cx="882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err="1" smtClean="0"/>
              <a:t>If</a:t>
            </a:r>
            <a:r>
              <a:rPr lang="pt-BR" sz="1200" dirty="0" smtClean="0"/>
              <a:t> </a:t>
            </a:r>
            <a:r>
              <a:rPr lang="pt-BR" sz="1200" dirty="0" err="1" smtClean="0"/>
              <a:t>problem</a:t>
            </a:r>
            <a:r>
              <a:rPr lang="pt-BR" sz="1200" dirty="0" smtClean="0"/>
              <a:t>!</a:t>
            </a:r>
            <a:endParaRPr lang="pt-BR" sz="1200" dirty="0"/>
          </a:p>
        </p:txBody>
      </p:sp>
      <p:sp>
        <p:nvSpPr>
          <p:cNvPr id="39" name="Retângulo de cantos arredondados 38"/>
          <p:cNvSpPr/>
          <p:nvPr/>
        </p:nvSpPr>
        <p:spPr>
          <a:xfrm>
            <a:off x="5220072" y="548680"/>
            <a:ext cx="115212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MQTT </a:t>
            </a:r>
            <a:r>
              <a:rPr lang="pt-BR" dirty="0" err="1" smtClean="0"/>
              <a:t>Broker</a:t>
            </a:r>
            <a:endParaRPr lang="pt-BR" dirty="0"/>
          </a:p>
        </p:txBody>
      </p:sp>
      <p:sp>
        <p:nvSpPr>
          <p:cNvPr id="40" name="Seta para a direita 39"/>
          <p:cNvSpPr/>
          <p:nvPr/>
        </p:nvSpPr>
        <p:spPr>
          <a:xfrm rot="18742456">
            <a:off x="4895995" y="1237380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/>
          <p:cNvSpPr/>
          <p:nvPr/>
        </p:nvSpPr>
        <p:spPr>
          <a:xfrm>
            <a:off x="4499992" y="1628800"/>
            <a:ext cx="86409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publish</a:t>
            </a:r>
            <a:endParaRPr lang="pt-BR" dirty="0"/>
          </a:p>
        </p:txBody>
      </p:sp>
      <p:sp>
        <p:nvSpPr>
          <p:cNvPr id="42" name="Retângulo 41"/>
          <p:cNvSpPr/>
          <p:nvPr/>
        </p:nvSpPr>
        <p:spPr>
          <a:xfrm>
            <a:off x="6264188" y="1628800"/>
            <a:ext cx="115212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subscribe</a:t>
            </a:r>
            <a:endParaRPr lang="pt-BR" dirty="0"/>
          </a:p>
        </p:txBody>
      </p:sp>
      <p:sp>
        <p:nvSpPr>
          <p:cNvPr id="43" name="Seta para a direita 42"/>
          <p:cNvSpPr/>
          <p:nvPr/>
        </p:nvSpPr>
        <p:spPr>
          <a:xfrm rot="3167010">
            <a:off x="6264147" y="1237380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Seta para baixo 43"/>
          <p:cNvSpPr/>
          <p:nvPr/>
        </p:nvSpPr>
        <p:spPr>
          <a:xfrm>
            <a:off x="6732240" y="2060848"/>
            <a:ext cx="216024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/>
          <p:cNvSpPr/>
          <p:nvPr/>
        </p:nvSpPr>
        <p:spPr>
          <a:xfrm>
            <a:off x="6264188" y="2492896"/>
            <a:ext cx="115212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Python</a:t>
            </a:r>
            <a:r>
              <a:rPr lang="pt-BR" dirty="0" smtClean="0"/>
              <a:t> </a:t>
            </a:r>
            <a:r>
              <a:rPr lang="pt-BR" dirty="0" err="1" smtClean="0"/>
              <a:t>Program</a:t>
            </a:r>
            <a:endParaRPr lang="pt-BR" dirty="0"/>
          </a:p>
        </p:txBody>
      </p:sp>
      <p:sp>
        <p:nvSpPr>
          <p:cNvPr id="46" name="Retângulo 45"/>
          <p:cNvSpPr/>
          <p:nvPr/>
        </p:nvSpPr>
        <p:spPr>
          <a:xfrm>
            <a:off x="6264188" y="3501008"/>
            <a:ext cx="115212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Excel</a:t>
            </a:r>
            <a:endParaRPr lang="pt-BR" dirty="0"/>
          </a:p>
        </p:txBody>
      </p:sp>
      <p:sp>
        <p:nvSpPr>
          <p:cNvPr id="47" name="Seta para baixo 46"/>
          <p:cNvSpPr/>
          <p:nvPr/>
        </p:nvSpPr>
        <p:spPr>
          <a:xfrm>
            <a:off x="6768244" y="3212976"/>
            <a:ext cx="144016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2555776" y="4725144"/>
            <a:ext cx="1224136" cy="18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 smtClean="0"/>
              <a:t>Save</a:t>
            </a:r>
            <a:r>
              <a:rPr lang="pt-BR" sz="1200" dirty="0" smtClean="0"/>
              <a:t> file</a:t>
            </a:r>
            <a:endParaRPr lang="pt-BR" sz="1200" dirty="0"/>
          </a:p>
        </p:txBody>
      </p:sp>
      <p:sp>
        <p:nvSpPr>
          <p:cNvPr id="36" name="Fluxograma: Decisão 35"/>
          <p:cNvSpPr/>
          <p:nvPr/>
        </p:nvSpPr>
        <p:spPr>
          <a:xfrm>
            <a:off x="683568" y="4581128"/>
            <a:ext cx="1584176" cy="4320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MQTT Connection</a:t>
            </a:r>
            <a:endParaRPr lang="pt-BR" sz="1000" dirty="0"/>
          </a:p>
        </p:txBody>
      </p:sp>
      <p:sp>
        <p:nvSpPr>
          <p:cNvPr id="37" name="Retângulo 36"/>
          <p:cNvSpPr/>
          <p:nvPr/>
        </p:nvSpPr>
        <p:spPr>
          <a:xfrm>
            <a:off x="575556" y="5877272"/>
            <a:ext cx="1800200" cy="2520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Read file </a:t>
            </a:r>
            <a:r>
              <a:rPr lang="pt-BR" sz="1000" dirty="0" err="1" smtClean="0"/>
              <a:t>and</a:t>
            </a:r>
            <a:r>
              <a:rPr lang="pt-BR" sz="1000" dirty="0" smtClean="0"/>
              <a:t>  </a:t>
            </a:r>
            <a:r>
              <a:rPr lang="pt-BR" sz="1000" dirty="0" err="1" smtClean="0"/>
              <a:t>send</a:t>
            </a:r>
            <a:r>
              <a:rPr lang="pt-BR" sz="1000" dirty="0" smtClean="0"/>
              <a:t> Data</a:t>
            </a:r>
            <a:endParaRPr lang="pt-BR" sz="1000" dirty="0"/>
          </a:p>
        </p:txBody>
      </p:sp>
      <p:cxnSp>
        <p:nvCxnSpPr>
          <p:cNvPr id="70" name="Conector de seta reta 69"/>
          <p:cNvCxnSpPr>
            <a:stCxn id="36" idx="3"/>
            <a:endCxn id="33" idx="1"/>
          </p:cNvCxnSpPr>
          <p:nvPr/>
        </p:nvCxnSpPr>
        <p:spPr>
          <a:xfrm>
            <a:off x="2267744" y="4797152"/>
            <a:ext cx="288032" cy="179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angulado 71"/>
          <p:cNvCxnSpPr/>
          <p:nvPr/>
        </p:nvCxnSpPr>
        <p:spPr>
          <a:xfrm rot="5400000">
            <a:off x="1367644" y="5112187"/>
            <a:ext cx="216024" cy="1800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Forma 95"/>
          <p:cNvCxnSpPr>
            <a:stCxn id="33" idx="2"/>
            <a:endCxn id="12" idx="3"/>
          </p:cNvCxnSpPr>
          <p:nvPr/>
        </p:nvCxnSpPr>
        <p:spPr>
          <a:xfrm rot="5400000">
            <a:off x="1916700" y="5364200"/>
            <a:ext cx="1710200" cy="7920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/>
          <p:nvPr/>
        </p:nvCxnSpPr>
        <p:spPr>
          <a:xfrm>
            <a:off x="1475656" y="4257072"/>
            <a:ext cx="0" cy="32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ângulo 98"/>
          <p:cNvSpPr/>
          <p:nvPr/>
        </p:nvSpPr>
        <p:spPr>
          <a:xfrm>
            <a:off x="611560" y="2564904"/>
            <a:ext cx="15121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Set RTC ESP</a:t>
            </a:r>
            <a:endParaRPr lang="pt-BR" sz="1200" dirty="0"/>
          </a:p>
        </p:txBody>
      </p:sp>
      <p:sp>
        <p:nvSpPr>
          <p:cNvPr id="102" name="CaixaDeTexto 101"/>
          <p:cNvSpPr txBox="1"/>
          <p:nvPr/>
        </p:nvSpPr>
        <p:spPr>
          <a:xfrm>
            <a:off x="1691680" y="5589240"/>
            <a:ext cx="389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err="1" smtClean="0"/>
              <a:t>yes</a:t>
            </a:r>
            <a:endParaRPr lang="pt-BR" sz="1200" dirty="0"/>
          </a:p>
        </p:txBody>
      </p:sp>
      <p:sp>
        <p:nvSpPr>
          <p:cNvPr id="38" name="Fluxograma: Decisão 37"/>
          <p:cNvSpPr/>
          <p:nvPr/>
        </p:nvSpPr>
        <p:spPr>
          <a:xfrm>
            <a:off x="683568" y="5229200"/>
            <a:ext cx="1584176" cy="4320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 smtClean="0"/>
              <a:t>If</a:t>
            </a:r>
            <a:r>
              <a:rPr lang="pt-BR" sz="1000" dirty="0" smtClean="0"/>
              <a:t> </a:t>
            </a:r>
            <a:r>
              <a:rPr lang="pt-BR" sz="1000" dirty="0" err="1" smtClean="0"/>
              <a:t>exist</a:t>
            </a:r>
            <a:r>
              <a:rPr lang="pt-BR" sz="1000" dirty="0" smtClean="0"/>
              <a:t> </a:t>
            </a:r>
            <a:r>
              <a:rPr lang="pt-BR" sz="1000" dirty="0" err="1" smtClean="0"/>
              <a:t>temp</a:t>
            </a:r>
            <a:r>
              <a:rPr lang="pt-BR" sz="1000" dirty="0" smtClean="0"/>
              <a:t> file</a:t>
            </a:r>
            <a:endParaRPr lang="pt-BR" sz="1000" dirty="0"/>
          </a:p>
        </p:txBody>
      </p:sp>
      <p:cxnSp>
        <p:nvCxnSpPr>
          <p:cNvPr id="84" name="Conector de seta reta 83"/>
          <p:cNvCxnSpPr/>
          <p:nvPr/>
        </p:nvCxnSpPr>
        <p:spPr>
          <a:xfrm>
            <a:off x="1475656" y="5661248"/>
            <a:ext cx="0" cy="216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angulado 85"/>
          <p:cNvCxnSpPr>
            <a:endCxn id="11" idx="3"/>
          </p:cNvCxnSpPr>
          <p:nvPr/>
        </p:nvCxnSpPr>
        <p:spPr>
          <a:xfrm>
            <a:off x="1421650" y="5445224"/>
            <a:ext cx="954106" cy="918112"/>
          </a:xfrm>
          <a:prstGeom prst="bentConnector3">
            <a:avLst>
              <a:gd name="adj1" fmla="val 1239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ixaDeTexto 90"/>
          <p:cNvSpPr txBox="1"/>
          <p:nvPr/>
        </p:nvSpPr>
        <p:spPr>
          <a:xfrm>
            <a:off x="2123728" y="4437112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no</a:t>
            </a:r>
            <a:endParaRPr lang="pt-BR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4" descr="4-20 mA do sensor de pressão piezoresistiv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584415">
            <a:off x="5632626" y="340612"/>
            <a:ext cx="1284054" cy="1033688"/>
          </a:xfrm>
          <a:prstGeom prst="rect">
            <a:avLst/>
          </a:prstGeom>
          <a:noFill/>
        </p:spPr>
      </p:pic>
      <p:pic>
        <p:nvPicPr>
          <p:cNvPr id="58" name="Picture 6" descr="https://static.wixstatic.com/media/04fe82_c51a7297bd894bd3a3c9757b188157e3~mv2.png/v1/fill/w_350,h_293,al_c,q_85,usm_0.66_1.00_0.01,enc_avif,quality_auto/04fe82_c51a7297bd894bd3a3c9757b188157e3~mv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3564559">
            <a:off x="7521462" y="1599992"/>
            <a:ext cx="1529795" cy="128065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1196752"/>
            <a:ext cx="2695636" cy="4928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Conector reto 9"/>
          <p:cNvCxnSpPr>
            <a:endCxn id="98" idx="3"/>
          </p:cNvCxnSpPr>
          <p:nvPr/>
        </p:nvCxnSpPr>
        <p:spPr>
          <a:xfrm flipH="1">
            <a:off x="1979713" y="1832470"/>
            <a:ext cx="576063" cy="3534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endCxn id="100" idx="3"/>
          </p:cNvCxnSpPr>
          <p:nvPr/>
        </p:nvCxnSpPr>
        <p:spPr>
          <a:xfrm flipH="1">
            <a:off x="1979713" y="2024491"/>
            <a:ext cx="576063" cy="353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endCxn id="104" idx="3"/>
          </p:cNvCxnSpPr>
          <p:nvPr/>
        </p:nvCxnSpPr>
        <p:spPr>
          <a:xfrm flipH="1">
            <a:off x="1979713" y="2408534"/>
            <a:ext cx="576063" cy="3470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endCxn id="102" idx="3"/>
          </p:cNvCxnSpPr>
          <p:nvPr/>
        </p:nvCxnSpPr>
        <p:spPr>
          <a:xfrm flipH="1">
            <a:off x="1979713" y="2216512"/>
            <a:ext cx="576063" cy="15492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00" y="1319646"/>
            <a:ext cx="897406" cy="152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Conector reto 16"/>
          <p:cNvCxnSpPr/>
          <p:nvPr/>
        </p:nvCxnSpPr>
        <p:spPr>
          <a:xfrm flipH="1">
            <a:off x="5255944" y="1427646"/>
            <a:ext cx="1152128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E:\chave_liga_deslig_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24128" y="5229200"/>
            <a:ext cx="1152128" cy="1169511"/>
          </a:xfrm>
          <a:prstGeom prst="rect">
            <a:avLst/>
          </a:prstGeom>
          <a:noFill/>
        </p:spPr>
      </p:pic>
      <p:pic>
        <p:nvPicPr>
          <p:cNvPr id="19" name="Picture 8" descr="DC/DC Step-up converter with 4-30V output — Arduino Official Stor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56176" y="4005064"/>
            <a:ext cx="1296144" cy="1296144"/>
          </a:xfrm>
          <a:prstGeom prst="rect">
            <a:avLst/>
          </a:prstGeom>
          <a:noFill/>
        </p:spPr>
      </p:pic>
      <p:cxnSp>
        <p:nvCxnSpPr>
          <p:cNvPr id="21" name="Conector angulado 20"/>
          <p:cNvCxnSpPr/>
          <p:nvPr/>
        </p:nvCxnSpPr>
        <p:spPr>
          <a:xfrm rot="16200000" flipV="1">
            <a:off x="6408204" y="5121188"/>
            <a:ext cx="504056" cy="288032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/>
          <p:nvPr/>
        </p:nvCxnSpPr>
        <p:spPr>
          <a:xfrm flipV="1">
            <a:off x="5220072" y="1728000"/>
            <a:ext cx="1152000" cy="2016000"/>
          </a:xfrm>
          <a:prstGeom prst="bentConnector3">
            <a:avLst>
              <a:gd name="adj1" fmla="val 34004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/>
          <p:nvPr/>
        </p:nvCxnSpPr>
        <p:spPr>
          <a:xfrm flipV="1">
            <a:off x="5220072" y="1872000"/>
            <a:ext cx="1188000" cy="2088000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Forma 35"/>
          <p:cNvCxnSpPr>
            <a:stCxn id="18" idx="2"/>
            <a:endCxn id="19" idx="1"/>
          </p:cNvCxnSpPr>
          <p:nvPr/>
        </p:nvCxnSpPr>
        <p:spPr>
          <a:xfrm rot="5400000" flipH="1">
            <a:off x="5355396" y="5453916"/>
            <a:ext cx="1745575" cy="144016"/>
          </a:xfrm>
          <a:prstGeom prst="bentConnector4">
            <a:avLst>
              <a:gd name="adj1" fmla="val -13096"/>
              <a:gd name="adj2" fmla="val 558732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Forma 42"/>
          <p:cNvCxnSpPr/>
          <p:nvPr/>
        </p:nvCxnSpPr>
        <p:spPr>
          <a:xfrm>
            <a:off x="2555952" y="4140000"/>
            <a:ext cx="2952328" cy="2484000"/>
          </a:xfrm>
          <a:prstGeom prst="bentConnector3">
            <a:avLst>
              <a:gd name="adj1" fmla="val -2599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 flipH="1">
            <a:off x="2123728" y="4293096"/>
            <a:ext cx="504056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/>
          <p:nvPr/>
        </p:nvCxnSpPr>
        <p:spPr>
          <a:xfrm>
            <a:off x="2195736" y="4293096"/>
            <a:ext cx="3600400" cy="1152128"/>
          </a:xfrm>
          <a:prstGeom prst="bentConnector3">
            <a:avLst>
              <a:gd name="adj1" fmla="val -3616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angulado 58"/>
          <p:cNvCxnSpPr/>
          <p:nvPr/>
        </p:nvCxnSpPr>
        <p:spPr>
          <a:xfrm rot="5400000" flipH="1" flipV="1">
            <a:off x="7056276" y="3104964"/>
            <a:ext cx="1728192" cy="1224136"/>
          </a:xfrm>
          <a:prstGeom prst="bentConnector3">
            <a:avLst>
              <a:gd name="adj1" fmla="val 29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angulado 61"/>
          <p:cNvCxnSpPr/>
          <p:nvPr/>
        </p:nvCxnSpPr>
        <p:spPr>
          <a:xfrm rot="5400000" flipH="1" flipV="1">
            <a:off x="6948264" y="3068960"/>
            <a:ext cx="1440160" cy="1008112"/>
          </a:xfrm>
          <a:prstGeom prst="bentConnector3">
            <a:avLst>
              <a:gd name="adj1" fmla="val 1472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do 66"/>
          <p:cNvCxnSpPr/>
          <p:nvPr/>
        </p:nvCxnSpPr>
        <p:spPr>
          <a:xfrm rot="10800000">
            <a:off x="6444416" y="2276872"/>
            <a:ext cx="1872000" cy="1296144"/>
          </a:xfrm>
          <a:prstGeom prst="bentConnector3">
            <a:avLst>
              <a:gd name="adj1" fmla="val 110609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/>
          <p:nvPr/>
        </p:nvCxnSpPr>
        <p:spPr>
          <a:xfrm flipV="1">
            <a:off x="8316416" y="2852936"/>
            <a:ext cx="0" cy="720080"/>
          </a:xfrm>
          <a:prstGeom prst="line">
            <a:avLst/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angulado 75"/>
          <p:cNvCxnSpPr/>
          <p:nvPr/>
        </p:nvCxnSpPr>
        <p:spPr>
          <a:xfrm rot="5400000">
            <a:off x="4644000" y="2960948"/>
            <a:ext cx="3096344" cy="288032"/>
          </a:xfrm>
          <a:prstGeom prst="bentConnector3">
            <a:avLst>
              <a:gd name="adj1" fmla="val -4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do 80"/>
          <p:cNvCxnSpPr/>
          <p:nvPr/>
        </p:nvCxnSpPr>
        <p:spPr>
          <a:xfrm>
            <a:off x="6588224" y="764704"/>
            <a:ext cx="1872208" cy="864096"/>
          </a:xfrm>
          <a:prstGeom prst="bentConnector3">
            <a:avLst>
              <a:gd name="adj1" fmla="val 1011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angulado 89"/>
          <p:cNvCxnSpPr/>
          <p:nvPr/>
        </p:nvCxnSpPr>
        <p:spPr>
          <a:xfrm rot="16200000" flipV="1">
            <a:off x="6678240" y="890712"/>
            <a:ext cx="2196000" cy="2088000"/>
          </a:xfrm>
          <a:prstGeom prst="bentConnector2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/>
          <p:nvPr/>
        </p:nvCxnSpPr>
        <p:spPr>
          <a:xfrm flipH="1">
            <a:off x="8532440" y="2996952"/>
            <a:ext cx="28803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tângulo 96"/>
          <p:cNvSpPr/>
          <p:nvPr/>
        </p:nvSpPr>
        <p:spPr>
          <a:xfrm>
            <a:off x="1763689" y="1800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 97"/>
          <p:cNvSpPr/>
          <p:nvPr/>
        </p:nvSpPr>
        <p:spPr>
          <a:xfrm>
            <a:off x="1907705" y="1800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 98"/>
          <p:cNvSpPr/>
          <p:nvPr/>
        </p:nvSpPr>
        <p:spPr>
          <a:xfrm>
            <a:off x="1763689" y="198884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tângulo 99"/>
          <p:cNvSpPr/>
          <p:nvPr/>
        </p:nvSpPr>
        <p:spPr>
          <a:xfrm>
            <a:off x="1907705" y="198884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tângulo 100"/>
          <p:cNvSpPr/>
          <p:nvPr/>
        </p:nvSpPr>
        <p:spPr>
          <a:xfrm>
            <a:off x="1763689" y="219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Retângulo 101"/>
          <p:cNvSpPr/>
          <p:nvPr/>
        </p:nvSpPr>
        <p:spPr>
          <a:xfrm>
            <a:off x="1907705" y="219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Retângulo 102"/>
          <p:cNvSpPr/>
          <p:nvPr/>
        </p:nvSpPr>
        <p:spPr>
          <a:xfrm>
            <a:off x="1763689" y="237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 103"/>
          <p:cNvSpPr/>
          <p:nvPr/>
        </p:nvSpPr>
        <p:spPr>
          <a:xfrm>
            <a:off x="1907705" y="237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5" name="Conector angulado 104"/>
          <p:cNvCxnSpPr>
            <a:stCxn id="97" idx="1"/>
            <a:endCxn id="103" idx="1"/>
          </p:cNvCxnSpPr>
          <p:nvPr/>
        </p:nvCxnSpPr>
        <p:spPr>
          <a:xfrm rot="10800000" flipV="1">
            <a:off x="1763689" y="1836004"/>
            <a:ext cx="12700" cy="576000"/>
          </a:xfrm>
          <a:prstGeom prst="bentConnector3">
            <a:avLst>
              <a:gd name="adj1" fmla="val 190800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do 105"/>
          <p:cNvCxnSpPr>
            <a:stCxn id="97" idx="1"/>
            <a:endCxn id="99" idx="1"/>
          </p:cNvCxnSpPr>
          <p:nvPr/>
        </p:nvCxnSpPr>
        <p:spPr>
          <a:xfrm rot="10800000" flipV="1">
            <a:off x="1763689" y="1836004"/>
            <a:ext cx="12700" cy="188840"/>
          </a:xfrm>
          <a:prstGeom prst="bentConnector3">
            <a:avLst>
              <a:gd name="adj1" fmla="val 187200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angulado 111"/>
          <p:cNvCxnSpPr>
            <a:endCxn id="97" idx="1"/>
          </p:cNvCxnSpPr>
          <p:nvPr/>
        </p:nvCxnSpPr>
        <p:spPr>
          <a:xfrm rot="10800000" flipV="1">
            <a:off x="1763690" y="1412776"/>
            <a:ext cx="792087" cy="423228"/>
          </a:xfrm>
          <a:prstGeom prst="bentConnector3">
            <a:avLst>
              <a:gd name="adj1" fmla="val 12886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/>
          <p:nvPr/>
        </p:nvCxnSpPr>
        <p:spPr>
          <a:xfrm>
            <a:off x="6048000" y="1988840"/>
            <a:ext cx="324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107504" y="1700808"/>
            <a:ext cx="154766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Deleta arquivo Temporário</a:t>
            </a:r>
            <a:endParaRPr lang="pt-BR" sz="800" dirty="0"/>
          </a:p>
        </p:txBody>
      </p:sp>
      <p:sp>
        <p:nvSpPr>
          <p:cNvPr id="42" name="Retângulo 41"/>
          <p:cNvSpPr/>
          <p:nvPr/>
        </p:nvSpPr>
        <p:spPr>
          <a:xfrm>
            <a:off x="0" y="1916832"/>
            <a:ext cx="16196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Will </a:t>
            </a:r>
            <a:r>
              <a:rPr lang="pt-BR" sz="800" dirty="0" err="1" smtClean="0"/>
              <a:t>Not</a:t>
            </a:r>
            <a:r>
              <a:rPr lang="pt-BR" sz="800" dirty="0" smtClean="0"/>
              <a:t> </a:t>
            </a:r>
            <a:r>
              <a:rPr lang="pt-BR" sz="800" dirty="0" err="1" smtClean="0"/>
              <a:t>sleep</a:t>
            </a:r>
            <a:r>
              <a:rPr lang="pt-BR" sz="800" dirty="0" smtClean="0"/>
              <a:t> (para debug)</a:t>
            </a:r>
            <a:endParaRPr lang="pt-BR" sz="800" dirty="0"/>
          </a:p>
        </p:txBody>
      </p:sp>
      <p:sp>
        <p:nvSpPr>
          <p:cNvPr id="44" name="Retângulo 43"/>
          <p:cNvSpPr/>
          <p:nvPr/>
        </p:nvSpPr>
        <p:spPr>
          <a:xfrm>
            <a:off x="0" y="2132856"/>
            <a:ext cx="16196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Deleta arquivo </a:t>
            </a:r>
            <a:r>
              <a:rPr lang="pt-BR" sz="800" dirty="0" err="1" smtClean="0"/>
              <a:t>perm</a:t>
            </a:r>
            <a:r>
              <a:rPr lang="pt-BR" sz="800" dirty="0" smtClean="0"/>
              <a:t> de dados</a:t>
            </a:r>
            <a:endParaRPr lang="pt-BR" sz="800" dirty="0"/>
          </a:p>
        </p:txBody>
      </p:sp>
      <p:sp>
        <p:nvSpPr>
          <p:cNvPr id="45" name="Retângulo 44"/>
          <p:cNvSpPr/>
          <p:nvPr/>
        </p:nvSpPr>
        <p:spPr>
          <a:xfrm>
            <a:off x="0" y="2276872"/>
            <a:ext cx="16196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3V3 Leitura dados permanentes</a:t>
            </a:r>
            <a:endParaRPr lang="pt-BR" sz="800" dirty="0"/>
          </a:p>
        </p:txBody>
      </p:sp>
      <p:cxnSp>
        <p:nvCxnSpPr>
          <p:cNvPr id="61" name="Conector angulado 60"/>
          <p:cNvCxnSpPr>
            <a:stCxn id="99" idx="1"/>
            <a:endCxn id="101" idx="1"/>
          </p:cNvCxnSpPr>
          <p:nvPr/>
        </p:nvCxnSpPr>
        <p:spPr>
          <a:xfrm rot="10800000" flipV="1">
            <a:off x="1763689" y="2024844"/>
            <a:ext cx="12700" cy="207160"/>
          </a:xfrm>
          <a:prstGeom prst="bentConnector3">
            <a:avLst>
              <a:gd name="adj1" fmla="val 180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/>
          <p:nvPr/>
        </p:nvCxnSpPr>
        <p:spPr>
          <a:xfrm>
            <a:off x="2627784" y="2996952"/>
            <a:ext cx="4176464" cy="3168352"/>
          </a:xfrm>
          <a:prstGeom prst="bentConnector3">
            <a:avLst>
              <a:gd name="adj1" fmla="val -47611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 descr="DC/DC Step-up converter with 4-30V output — Arduino Official Sto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5157192"/>
            <a:ext cx="1296144" cy="1296144"/>
          </a:xfrm>
          <a:prstGeom prst="rect">
            <a:avLst/>
          </a:prstGeom>
          <a:noFill/>
        </p:spPr>
      </p:pic>
      <p:pic>
        <p:nvPicPr>
          <p:cNvPr id="78" name="Picture 4" descr="4-20 mA do sensor de pressão piezoresistiv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1055759">
            <a:off x="7704985" y="378948"/>
            <a:ext cx="1284054" cy="1033688"/>
          </a:xfrm>
          <a:prstGeom prst="rect">
            <a:avLst/>
          </a:prstGeom>
          <a:noFill/>
        </p:spPr>
      </p:pic>
      <p:pic>
        <p:nvPicPr>
          <p:cNvPr id="58" name="Picture 6" descr="https://static.wixstatic.com/media/04fe82_c51a7297bd894bd3a3c9757b188157e3~mv2.png/v1/fill/w_350,h_293,al_c,q_85,usm_0.66_1.00_0.01,enc_avif,quality_auto/04fe82_c51a7297bd894bd3a3c9757b188157e3~mv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3564559">
            <a:off x="7555883" y="1828763"/>
            <a:ext cx="1529795" cy="128065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85325" y="1196752"/>
            <a:ext cx="2695636" cy="4928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Conector reto 9"/>
          <p:cNvCxnSpPr>
            <a:endCxn id="98" idx="3"/>
          </p:cNvCxnSpPr>
          <p:nvPr/>
        </p:nvCxnSpPr>
        <p:spPr>
          <a:xfrm flipH="1">
            <a:off x="709262" y="1832470"/>
            <a:ext cx="576063" cy="3534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endCxn id="100" idx="3"/>
          </p:cNvCxnSpPr>
          <p:nvPr/>
        </p:nvCxnSpPr>
        <p:spPr>
          <a:xfrm flipH="1">
            <a:off x="709262" y="2024491"/>
            <a:ext cx="576063" cy="353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endCxn id="104" idx="3"/>
          </p:cNvCxnSpPr>
          <p:nvPr/>
        </p:nvCxnSpPr>
        <p:spPr>
          <a:xfrm flipH="1">
            <a:off x="709262" y="2408534"/>
            <a:ext cx="576064" cy="3470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endCxn id="102" idx="3"/>
          </p:cNvCxnSpPr>
          <p:nvPr/>
        </p:nvCxnSpPr>
        <p:spPr>
          <a:xfrm flipH="1">
            <a:off x="709262" y="2216512"/>
            <a:ext cx="576063" cy="15492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01749" y="1319646"/>
            <a:ext cx="897406" cy="152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Conector reto 16"/>
          <p:cNvCxnSpPr/>
          <p:nvPr/>
        </p:nvCxnSpPr>
        <p:spPr>
          <a:xfrm flipH="1">
            <a:off x="3985493" y="1427646"/>
            <a:ext cx="1152128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E:\chave_liga_deslig_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53677" y="5229200"/>
            <a:ext cx="1152128" cy="1169511"/>
          </a:xfrm>
          <a:prstGeom prst="rect">
            <a:avLst/>
          </a:prstGeom>
          <a:noFill/>
        </p:spPr>
      </p:pic>
      <p:cxnSp>
        <p:nvCxnSpPr>
          <p:cNvPr id="21" name="Conector angulado 20"/>
          <p:cNvCxnSpPr/>
          <p:nvPr/>
        </p:nvCxnSpPr>
        <p:spPr>
          <a:xfrm>
            <a:off x="5533796" y="5517233"/>
            <a:ext cx="622382" cy="360039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/>
          <p:nvPr/>
        </p:nvCxnSpPr>
        <p:spPr>
          <a:xfrm flipV="1">
            <a:off x="3949621" y="1728000"/>
            <a:ext cx="1152000" cy="2016000"/>
          </a:xfrm>
          <a:prstGeom prst="bentConnector3">
            <a:avLst>
              <a:gd name="adj1" fmla="val 34004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/>
          <p:nvPr/>
        </p:nvCxnSpPr>
        <p:spPr>
          <a:xfrm flipV="1">
            <a:off x="3949621" y="1872000"/>
            <a:ext cx="1188000" cy="2088000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Forma 35"/>
          <p:cNvCxnSpPr>
            <a:stCxn id="18" idx="2"/>
          </p:cNvCxnSpPr>
          <p:nvPr/>
        </p:nvCxnSpPr>
        <p:spPr>
          <a:xfrm rot="5400000" flipH="1" flipV="1">
            <a:off x="5584266" y="5610778"/>
            <a:ext cx="233407" cy="1342459"/>
          </a:xfrm>
          <a:prstGeom prst="bentConnector4">
            <a:avLst>
              <a:gd name="adj1" fmla="val -97941"/>
              <a:gd name="adj2" fmla="val 71456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Forma 42"/>
          <p:cNvCxnSpPr>
            <a:endCxn id="18" idx="2"/>
          </p:cNvCxnSpPr>
          <p:nvPr/>
        </p:nvCxnSpPr>
        <p:spPr>
          <a:xfrm>
            <a:off x="1285501" y="4140000"/>
            <a:ext cx="3744240" cy="2258711"/>
          </a:xfrm>
          <a:prstGeom prst="bentConnector4">
            <a:avLst>
              <a:gd name="adj1" fmla="val -17342"/>
              <a:gd name="adj2" fmla="val 110121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 flipH="1">
            <a:off x="853277" y="4293096"/>
            <a:ext cx="504056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/>
          <p:nvPr/>
        </p:nvCxnSpPr>
        <p:spPr>
          <a:xfrm>
            <a:off x="925285" y="4293096"/>
            <a:ext cx="3600400" cy="1152128"/>
          </a:xfrm>
          <a:prstGeom prst="bentConnector3">
            <a:avLst>
              <a:gd name="adj1" fmla="val -3616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angulado 58"/>
          <p:cNvCxnSpPr>
            <a:stCxn id="19" idx="3"/>
          </p:cNvCxnSpPr>
          <p:nvPr/>
        </p:nvCxnSpPr>
        <p:spPr>
          <a:xfrm flipV="1">
            <a:off x="7308304" y="2924944"/>
            <a:ext cx="1152128" cy="2880320"/>
          </a:xfrm>
          <a:prstGeom prst="bentConnector2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angulado 61"/>
          <p:cNvCxnSpPr/>
          <p:nvPr/>
        </p:nvCxnSpPr>
        <p:spPr>
          <a:xfrm rot="5400000" flipH="1" flipV="1">
            <a:off x="6336196" y="3537012"/>
            <a:ext cx="2592288" cy="12241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do 66"/>
          <p:cNvCxnSpPr/>
          <p:nvPr/>
        </p:nvCxnSpPr>
        <p:spPr>
          <a:xfrm rot="10800000">
            <a:off x="5173966" y="2276872"/>
            <a:ext cx="3214459" cy="1296144"/>
          </a:xfrm>
          <a:prstGeom prst="bentConnector3">
            <a:avLst>
              <a:gd name="adj1" fmla="val 105510"/>
            </a:avLst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/>
          <p:nvPr/>
        </p:nvCxnSpPr>
        <p:spPr>
          <a:xfrm flipV="1">
            <a:off x="8350836" y="2852936"/>
            <a:ext cx="0" cy="720080"/>
          </a:xfrm>
          <a:prstGeom prst="line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angulado 75"/>
          <p:cNvCxnSpPr/>
          <p:nvPr/>
        </p:nvCxnSpPr>
        <p:spPr>
          <a:xfrm rot="5400000">
            <a:off x="2051721" y="3861048"/>
            <a:ext cx="5040559" cy="432048"/>
          </a:xfrm>
          <a:prstGeom prst="bentConnector3">
            <a:avLst>
              <a:gd name="adj1" fmla="val 7022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do 80"/>
          <p:cNvCxnSpPr/>
          <p:nvPr/>
        </p:nvCxnSpPr>
        <p:spPr>
          <a:xfrm rot="16200000" flipH="1">
            <a:off x="8094042" y="1563142"/>
            <a:ext cx="654422" cy="65658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angulado 89"/>
          <p:cNvCxnSpPr/>
          <p:nvPr/>
        </p:nvCxnSpPr>
        <p:spPr>
          <a:xfrm rot="16200000" flipV="1">
            <a:off x="7812361" y="1988840"/>
            <a:ext cx="1512168" cy="504055"/>
          </a:xfrm>
          <a:prstGeom prst="bentConnector3">
            <a:avLst>
              <a:gd name="adj1" fmla="val 83713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/>
          <p:nvPr/>
        </p:nvCxnSpPr>
        <p:spPr>
          <a:xfrm flipH="1">
            <a:off x="8460432" y="2996952"/>
            <a:ext cx="36004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tângulo 96"/>
          <p:cNvSpPr/>
          <p:nvPr/>
        </p:nvSpPr>
        <p:spPr>
          <a:xfrm>
            <a:off x="493238" y="1800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 97"/>
          <p:cNvSpPr/>
          <p:nvPr/>
        </p:nvSpPr>
        <p:spPr>
          <a:xfrm>
            <a:off x="637254" y="1800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 98"/>
          <p:cNvSpPr/>
          <p:nvPr/>
        </p:nvSpPr>
        <p:spPr>
          <a:xfrm>
            <a:off x="493238" y="198884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tângulo 99"/>
          <p:cNvSpPr/>
          <p:nvPr/>
        </p:nvSpPr>
        <p:spPr>
          <a:xfrm>
            <a:off x="637254" y="198884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tângulo 100"/>
          <p:cNvSpPr/>
          <p:nvPr/>
        </p:nvSpPr>
        <p:spPr>
          <a:xfrm>
            <a:off x="493238" y="219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Retângulo 101"/>
          <p:cNvSpPr/>
          <p:nvPr/>
        </p:nvSpPr>
        <p:spPr>
          <a:xfrm>
            <a:off x="637254" y="219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Retângulo 102"/>
          <p:cNvSpPr/>
          <p:nvPr/>
        </p:nvSpPr>
        <p:spPr>
          <a:xfrm>
            <a:off x="493238" y="237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 103"/>
          <p:cNvSpPr/>
          <p:nvPr/>
        </p:nvSpPr>
        <p:spPr>
          <a:xfrm>
            <a:off x="637254" y="2376000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5" name="Conector angulado 104"/>
          <p:cNvCxnSpPr>
            <a:stCxn id="97" idx="1"/>
            <a:endCxn id="103" idx="1"/>
          </p:cNvCxnSpPr>
          <p:nvPr/>
        </p:nvCxnSpPr>
        <p:spPr>
          <a:xfrm rot="10800000" flipV="1">
            <a:off x="493238" y="1836004"/>
            <a:ext cx="12700" cy="576000"/>
          </a:xfrm>
          <a:prstGeom prst="bentConnector3">
            <a:avLst>
              <a:gd name="adj1" fmla="val 180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do 105"/>
          <p:cNvCxnSpPr>
            <a:stCxn id="97" idx="1"/>
            <a:endCxn id="99" idx="1"/>
          </p:cNvCxnSpPr>
          <p:nvPr/>
        </p:nvCxnSpPr>
        <p:spPr>
          <a:xfrm rot="10800000" flipV="1">
            <a:off x="493238" y="1836004"/>
            <a:ext cx="12700" cy="188840"/>
          </a:xfrm>
          <a:prstGeom prst="bentConnector3">
            <a:avLst>
              <a:gd name="adj1" fmla="val 187200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angulado 111"/>
          <p:cNvCxnSpPr>
            <a:endCxn id="97" idx="1"/>
          </p:cNvCxnSpPr>
          <p:nvPr/>
        </p:nvCxnSpPr>
        <p:spPr>
          <a:xfrm rot="10800000" flipV="1">
            <a:off x="493239" y="1412776"/>
            <a:ext cx="792087" cy="423228"/>
          </a:xfrm>
          <a:prstGeom prst="bentConnector3">
            <a:avLst>
              <a:gd name="adj1" fmla="val 12886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/>
          <p:nvPr/>
        </p:nvCxnSpPr>
        <p:spPr>
          <a:xfrm>
            <a:off x="4777549" y="1988840"/>
            <a:ext cx="324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ângulo 44"/>
          <p:cNvSpPr/>
          <p:nvPr/>
        </p:nvSpPr>
        <p:spPr>
          <a:xfrm>
            <a:off x="277213" y="1628800"/>
            <a:ext cx="251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1</a:t>
            </a:r>
            <a:endParaRPr lang="pt-BR" sz="800" dirty="0"/>
          </a:p>
        </p:txBody>
      </p:sp>
      <p:cxnSp>
        <p:nvCxnSpPr>
          <p:cNvPr id="61" name="Conector angulado 60"/>
          <p:cNvCxnSpPr>
            <a:stCxn id="99" idx="1"/>
            <a:endCxn id="101" idx="1"/>
          </p:cNvCxnSpPr>
          <p:nvPr/>
        </p:nvCxnSpPr>
        <p:spPr>
          <a:xfrm rot="10800000" flipV="1">
            <a:off x="493238" y="2024844"/>
            <a:ext cx="12700" cy="207160"/>
          </a:xfrm>
          <a:prstGeom prst="bentConnector3">
            <a:avLst>
              <a:gd name="adj1" fmla="val 180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/>
          <p:nvPr/>
        </p:nvCxnSpPr>
        <p:spPr>
          <a:xfrm>
            <a:off x="1357333" y="2996952"/>
            <a:ext cx="4176464" cy="3168352"/>
          </a:xfrm>
          <a:prstGeom prst="bentConnector3">
            <a:avLst>
              <a:gd name="adj1" fmla="val -25831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5400000">
            <a:off x="2264410" y="289675"/>
            <a:ext cx="706125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9" name="Conector angulado 48"/>
          <p:cNvCxnSpPr>
            <a:endCxn id="2053" idx="0"/>
          </p:cNvCxnSpPr>
          <p:nvPr/>
        </p:nvCxnSpPr>
        <p:spPr>
          <a:xfrm rot="16200000" flipV="1">
            <a:off x="2142557" y="1556680"/>
            <a:ext cx="2894048" cy="1152128"/>
          </a:xfrm>
          <a:prstGeom prst="bentConnector2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do 48"/>
          <p:cNvCxnSpPr/>
          <p:nvPr/>
        </p:nvCxnSpPr>
        <p:spPr>
          <a:xfrm rot="16200000" flipV="1">
            <a:off x="2257433" y="1520788"/>
            <a:ext cx="2592288" cy="1080120"/>
          </a:xfrm>
          <a:prstGeom prst="bentConnector3">
            <a:avLst>
              <a:gd name="adj1" fmla="val 99726"/>
            </a:avLst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angulado 48"/>
          <p:cNvCxnSpPr/>
          <p:nvPr/>
        </p:nvCxnSpPr>
        <p:spPr>
          <a:xfrm rot="10800000">
            <a:off x="3013517" y="836712"/>
            <a:ext cx="1008112" cy="792088"/>
          </a:xfrm>
          <a:prstGeom prst="bentConnector3">
            <a:avLst>
              <a:gd name="adj1" fmla="val -291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do 48"/>
          <p:cNvCxnSpPr/>
          <p:nvPr/>
        </p:nvCxnSpPr>
        <p:spPr>
          <a:xfrm flipV="1">
            <a:off x="1278975" y="1052736"/>
            <a:ext cx="2166590" cy="582414"/>
          </a:xfrm>
          <a:prstGeom prst="bentConnector3">
            <a:avLst>
              <a:gd name="adj1" fmla="val -16824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angulado 48"/>
          <p:cNvCxnSpPr/>
          <p:nvPr/>
        </p:nvCxnSpPr>
        <p:spPr>
          <a:xfrm rot="10800000">
            <a:off x="3013517" y="908720"/>
            <a:ext cx="432048" cy="144016"/>
          </a:xfrm>
          <a:prstGeom prst="bentConnector3">
            <a:avLst>
              <a:gd name="adj1" fmla="val -706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3949621" y="3356992"/>
            <a:ext cx="144016" cy="0"/>
          </a:xfrm>
          <a:prstGeom prst="line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/>
          <p:nvPr/>
        </p:nvCxnSpPr>
        <p:spPr>
          <a:xfrm flipH="1">
            <a:off x="3949621" y="3573016"/>
            <a:ext cx="216024" cy="0"/>
          </a:xfrm>
          <a:prstGeom prst="line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32240" y="1700808"/>
            <a:ext cx="893038" cy="117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" name="CaixaDeTexto 110"/>
          <p:cNvSpPr txBox="1"/>
          <p:nvPr/>
        </p:nvSpPr>
        <p:spPr>
          <a:xfrm>
            <a:off x="0" y="116632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800" dirty="0" smtClean="0"/>
              <a:t>1 - 3V3 Deleta arquivo Temporário</a:t>
            </a:r>
          </a:p>
          <a:p>
            <a:pPr>
              <a:lnSpc>
                <a:spcPct val="150000"/>
              </a:lnSpc>
            </a:pPr>
            <a:r>
              <a:rPr lang="pt-BR" sz="800" dirty="0" smtClean="0"/>
              <a:t>2 - 3V3 Will </a:t>
            </a:r>
            <a:r>
              <a:rPr lang="pt-BR" sz="800" dirty="0" err="1" smtClean="0"/>
              <a:t>Not</a:t>
            </a:r>
            <a:r>
              <a:rPr lang="pt-BR" sz="800" dirty="0" smtClean="0"/>
              <a:t> </a:t>
            </a:r>
            <a:r>
              <a:rPr lang="pt-BR" sz="800" dirty="0" err="1" smtClean="0"/>
              <a:t>sleep</a:t>
            </a:r>
            <a:r>
              <a:rPr lang="pt-BR" sz="800" dirty="0" smtClean="0"/>
              <a:t> (para debug)</a:t>
            </a:r>
          </a:p>
          <a:p>
            <a:pPr>
              <a:lnSpc>
                <a:spcPct val="150000"/>
              </a:lnSpc>
            </a:pPr>
            <a:r>
              <a:rPr lang="pt-BR" sz="800" dirty="0" smtClean="0"/>
              <a:t>3 - 3V3 Deleta arquivo históricos</a:t>
            </a:r>
          </a:p>
          <a:p>
            <a:pPr>
              <a:lnSpc>
                <a:spcPct val="150000"/>
              </a:lnSpc>
            </a:pPr>
            <a:r>
              <a:rPr lang="pt-BR" sz="800" dirty="0" smtClean="0"/>
              <a:t>4 - 3V3 Leitura dados históricos</a:t>
            </a:r>
          </a:p>
          <a:p>
            <a:pPr>
              <a:lnSpc>
                <a:spcPct val="150000"/>
              </a:lnSpc>
            </a:pPr>
            <a:r>
              <a:rPr lang="pt-BR" sz="800" dirty="0" smtClean="0"/>
              <a:t>5 – 3V3 Calibração do </a:t>
            </a:r>
            <a:r>
              <a:rPr lang="pt-BR" sz="800" dirty="0" err="1" smtClean="0"/>
              <a:t>Giroscopio</a:t>
            </a:r>
            <a:endParaRPr lang="pt-BR" sz="800" dirty="0"/>
          </a:p>
        </p:txBody>
      </p:sp>
      <p:sp>
        <p:nvSpPr>
          <p:cNvPr id="113" name="Retângulo 112"/>
          <p:cNvSpPr/>
          <p:nvPr/>
        </p:nvSpPr>
        <p:spPr>
          <a:xfrm>
            <a:off x="277213" y="1844824"/>
            <a:ext cx="251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2</a:t>
            </a:r>
            <a:endParaRPr lang="pt-BR" sz="800" dirty="0"/>
          </a:p>
        </p:txBody>
      </p:sp>
      <p:sp>
        <p:nvSpPr>
          <p:cNvPr id="114" name="Retângulo 113"/>
          <p:cNvSpPr/>
          <p:nvPr/>
        </p:nvSpPr>
        <p:spPr>
          <a:xfrm>
            <a:off x="277213" y="2060848"/>
            <a:ext cx="251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3</a:t>
            </a:r>
            <a:endParaRPr lang="pt-BR" sz="800" dirty="0"/>
          </a:p>
        </p:txBody>
      </p:sp>
      <p:sp>
        <p:nvSpPr>
          <p:cNvPr id="115" name="Retângulo 114"/>
          <p:cNvSpPr/>
          <p:nvPr/>
        </p:nvSpPr>
        <p:spPr>
          <a:xfrm>
            <a:off x="277213" y="2204864"/>
            <a:ext cx="251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4</a:t>
            </a:r>
            <a:endParaRPr lang="pt-BR" sz="800" dirty="0"/>
          </a:p>
        </p:txBody>
      </p:sp>
      <p:sp>
        <p:nvSpPr>
          <p:cNvPr id="135" name="Retângulo 134"/>
          <p:cNvSpPr/>
          <p:nvPr/>
        </p:nvSpPr>
        <p:spPr>
          <a:xfrm>
            <a:off x="5220072" y="2924944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smtClean="0"/>
              <a:t>0x48</a:t>
            </a:r>
            <a:endParaRPr lang="pt-BR" sz="1400" dirty="0"/>
          </a:p>
        </p:txBody>
      </p:sp>
      <p:sp>
        <p:nvSpPr>
          <p:cNvPr id="136" name="Retângulo 135"/>
          <p:cNvSpPr/>
          <p:nvPr/>
        </p:nvSpPr>
        <p:spPr>
          <a:xfrm>
            <a:off x="6948264" y="2780928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smtClean="0"/>
              <a:t>0x68</a:t>
            </a:r>
            <a:endParaRPr lang="pt-BR" sz="1400" dirty="0"/>
          </a:p>
        </p:txBody>
      </p:sp>
      <p:cxnSp>
        <p:nvCxnSpPr>
          <p:cNvPr id="137" name="Conector angulado 48"/>
          <p:cNvCxnSpPr/>
          <p:nvPr/>
        </p:nvCxnSpPr>
        <p:spPr>
          <a:xfrm rot="5400000">
            <a:off x="3959932" y="1808820"/>
            <a:ext cx="2592288" cy="2520280"/>
          </a:xfrm>
          <a:prstGeom prst="bentConnector3">
            <a:avLst>
              <a:gd name="adj1" fmla="val 99009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angulado 144"/>
          <p:cNvCxnSpPr/>
          <p:nvPr/>
        </p:nvCxnSpPr>
        <p:spPr>
          <a:xfrm rot="10800000">
            <a:off x="5580112" y="1124744"/>
            <a:ext cx="1152128" cy="792088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angulado 151"/>
          <p:cNvCxnSpPr/>
          <p:nvPr/>
        </p:nvCxnSpPr>
        <p:spPr>
          <a:xfrm flipV="1">
            <a:off x="4788024" y="1124744"/>
            <a:ext cx="792088" cy="432048"/>
          </a:xfrm>
          <a:prstGeom prst="bentConnector3">
            <a:avLst>
              <a:gd name="adj1" fmla="val -130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angulado 157"/>
          <p:cNvCxnSpPr/>
          <p:nvPr/>
        </p:nvCxnSpPr>
        <p:spPr>
          <a:xfrm flipV="1">
            <a:off x="4355976" y="2060848"/>
            <a:ext cx="2376264" cy="1656184"/>
          </a:xfrm>
          <a:prstGeom prst="bentConnector3">
            <a:avLst>
              <a:gd name="adj1" fmla="val 79627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angulado 162"/>
          <p:cNvCxnSpPr/>
          <p:nvPr/>
        </p:nvCxnSpPr>
        <p:spPr>
          <a:xfrm flipV="1">
            <a:off x="4572000" y="2204864"/>
            <a:ext cx="2232248" cy="1728192"/>
          </a:xfrm>
          <a:prstGeom prst="bentConnector3">
            <a:avLst>
              <a:gd name="adj1" fmla="val 81538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angulado 169"/>
          <p:cNvCxnSpPr/>
          <p:nvPr/>
        </p:nvCxnSpPr>
        <p:spPr>
          <a:xfrm rot="16200000" flipH="1">
            <a:off x="6120172" y="1952836"/>
            <a:ext cx="720080" cy="648072"/>
          </a:xfrm>
          <a:prstGeom prst="bentConnector3">
            <a:avLst>
              <a:gd name="adj1" fmla="val 101693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tângulo 171"/>
          <p:cNvSpPr/>
          <p:nvPr/>
        </p:nvSpPr>
        <p:spPr>
          <a:xfrm>
            <a:off x="6660232" y="0"/>
            <a:ext cx="9814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err="1" smtClean="0"/>
              <a:t>Giroscopio</a:t>
            </a:r>
            <a:endParaRPr lang="pt-BR" sz="1400" dirty="0"/>
          </a:p>
        </p:txBody>
      </p:sp>
      <p:cxnSp>
        <p:nvCxnSpPr>
          <p:cNvPr id="66" name="Conector reto 65"/>
          <p:cNvCxnSpPr>
            <a:endCxn id="70" idx="3"/>
          </p:cNvCxnSpPr>
          <p:nvPr/>
        </p:nvCxnSpPr>
        <p:spPr>
          <a:xfrm flipH="1">
            <a:off x="709262" y="2597438"/>
            <a:ext cx="550370" cy="3470"/>
          </a:xfrm>
          <a:prstGeom prst="line">
            <a:avLst/>
          </a:prstGeom>
          <a:ln w="222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tângulo 67"/>
          <p:cNvSpPr/>
          <p:nvPr/>
        </p:nvSpPr>
        <p:spPr>
          <a:xfrm>
            <a:off x="493238" y="2564904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/>
          <p:cNvSpPr/>
          <p:nvPr/>
        </p:nvSpPr>
        <p:spPr>
          <a:xfrm>
            <a:off x="637254" y="2564904"/>
            <a:ext cx="7200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angulado 70"/>
          <p:cNvCxnSpPr/>
          <p:nvPr/>
        </p:nvCxnSpPr>
        <p:spPr>
          <a:xfrm rot="10800000" flipV="1">
            <a:off x="467544" y="2420888"/>
            <a:ext cx="12700" cy="207160"/>
          </a:xfrm>
          <a:prstGeom prst="bentConnector3">
            <a:avLst>
              <a:gd name="adj1" fmla="val 1650001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/>
          <p:cNvSpPr/>
          <p:nvPr/>
        </p:nvSpPr>
        <p:spPr>
          <a:xfrm>
            <a:off x="251520" y="2420888"/>
            <a:ext cx="251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smtClean="0"/>
              <a:t>5</a:t>
            </a:r>
            <a:endParaRPr lang="pt-BR" sz="800" dirty="0"/>
          </a:p>
        </p:txBody>
      </p:sp>
      <p:cxnSp>
        <p:nvCxnSpPr>
          <p:cNvPr id="88" name="Conector reto 87"/>
          <p:cNvCxnSpPr/>
          <p:nvPr/>
        </p:nvCxnSpPr>
        <p:spPr>
          <a:xfrm>
            <a:off x="6516216" y="1772816"/>
            <a:ext cx="216024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to 130"/>
          <p:cNvCxnSpPr/>
          <p:nvPr/>
        </p:nvCxnSpPr>
        <p:spPr>
          <a:xfrm>
            <a:off x="4788024" y="1556792"/>
            <a:ext cx="36004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32240" y="332656"/>
            <a:ext cx="893038" cy="117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Retângulo 86"/>
          <p:cNvSpPr/>
          <p:nvPr/>
        </p:nvSpPr>
        <p:spPr>
          <a:xfrm>
            <a:off x="6804248" y="1412776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smtClean="0"/>
              <a:t>0x69</a:t>
            </a:r>
            <a:endParaRPr lang="pt-BR" sz="1400" dirty="0"/>
          </a:p>
        </p:txBody>
      </p:sp>
      <p:cxnSp>
        <p:nvCxnSpPr>
          <p:cNvPr id="89" name="Conector reto 88"/>
          <p:cNvCxnSpPr/>
          <p:nvPr/>
        </p:nvCxnSpPr>
        <p:spPr>
          <a:xfrm>
            <a:off x="6588224" y="404664"/>
            <a:ext cx="216024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angulado 90"/>
          <p:cNvCxnSpPr/>
          <p:nvPr/>
        </p:nvCxnSpPr>
        <p:spPr>
          <a:xfrm rot="5400000" flipH="1" flipV="1">
            <a:off x="5835265" y="1093436"/>
            <a:ext cx="1441731" cy="64188"/>
          </a:xfrm>
          <a:prstGeom prst="bentConnector3">
            <a:avLst>
              <a:gd name="adj1" fmla="val 100515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angulado 106"/>
          <p:cNvCxnSpPr/>
          <p:nvPr/>
        </p:nvCxnSpPr>
        <p:spPr>
          <a:xfrm flipV="1">
            <a:off x="6156176" y="548680"/>
            <a:ext cx="648072" cy="576064"/>
          </a:xfrm>
          <a:prstGeom prst="bentConnector3">
            <a:avLst>
              <a:gd name="adj1" fmla="val 55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/>
          <p:nvPr/>
        </p:nvCxnSpPr>
        <p:spPr>
          <a:xfrm>
            <a:off x="6516216" y="1268760"/>
            <a:ext cx="216024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angulado 117"/>
          <p:cNvCxnSpPr/>
          <p:nvPr/>
        </p:nvCxnSpPr>
        <p:spPr>
          <a:xfrm rot="5400000" flipH="1" flipV="1">
            <a:off x="5868144" y="1124744"/>
            <a:ext cx="1368152" cy="504056"/>
          </a:xfrm>
          <a:prstGeom prst="bentConnector3">
            <a:avLst>
              <a:gd name="adj1" fmla="val 100274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angulado 123"/>
          <p:cNvCxnSpPr/>
          <p:nvPr/>
        </p:nvCxnSpPr>
        <p:spPr>
          <a:xfrm rot="5400000" flipH="1" flipV="1">
            <a:off x="5940152" y="1340768"/>
            <a:ext cx="1368152" cy="360040"/>
          </a:xfrm>
          <a:prstGeom prst="bentConnector3">
            <a:avLst>
              <a:gd name="adj1" fmla="val 100865"/>
            </a:avLst>
          </a:prstGeom>
          <a:ln w="222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79512" y="476672"/>
            <a:ext cx="2232248" cy="1368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dirty="0" err="1" smtClean="0"/>
              <a:t>Main</a:t>
            </a:r>
            <a:r>
              <a:rPr lang="pt-BR" sz="1400" dirty="0" smtClean="0"/>
              <a:t> *.</a:t>
            </a:r>
            <a:r>
              <a:rPr lang="pt-BR" sz="1400" dirty="0" err="1" smtClean="0"/>
              <a:t>ino</a:t>
            </a:r>
            <a:endParaRPr lang="pt-BR" sz="1400" dirty="0" smtClean="0"/>
          </a:p>
          <a:p>
            <a:r>
              <a:rPr lang="pt-BR" sz="1400" dirty="0" smtClean="0"/>
              <a:t>Loop (){</a:t>
            </a:r>
          </a:p>
          <a:p>
            <a:r>
              <a:rPr lang="pt-BR" sz="1400" b="1" dirty="0" smtClean="0">
                <a:solidFill>
                  <a:srgbClr val="FF0000"/>
                </a:solidFill>
              </a:rPr>
              <a:t>giro </a:t>
            </a:r>
            <a:r>
              <a:rPr lang="pt-BR" sz="1400" b="1" dirty="0" err="1" smtClean="0">
                <a:solidFill>
                  <a:srgbClr val="FF0000"/>
                </a:solidFill>
              </a:rPr>
              <a:t>res</a:t>
            </a:r>
            <a:r>
              <a:rPr lang="pt-BR" sz="1400" b="1" dirty="0" smtClean="0">
                <a:solidFill>
                  <a:srgbClr val="FF0000"/>
                </a:solidFill>
              </a:rPr>
              <a:t> = </a:t>
            </a:r>
            <a:r>
              <a:rPr lang="pt-BR" sz="1400" b="1" dirty="0" err="1" smtClean="0">
                <a:solidFill>
                  <a:srgbClr val="FF0000"/>
                </a:solidFill>
              </a:rPr>
              <a:t>get_giroscopio</a:t>
            </a:r>
            <a:r>
              <a:rPr lang="pt-BR" sz="1400" b="1" dirty="0" smtClean="0">
                <a:solidFill>
                  <a:srgbClr val="FF0000"/>
                </a:solidFill>
              </a:rPr>
              <a:t>(); </a:t>
            </a:r>
          </a:p>
          <a:p>
            <a:r>
              <a:rPr lang="pt-BR" sz="1400" dirty="0" smtClean="0"/>
              <a:t>}</a:t>
            </a:r>
            <a:endParaRPr lang="pt-BR" sz="1400" dirty="0"/>
          </a:p>
        </p:txBody>
      </p:sp>
      <p:sp>
        <p:nvSpPr>
          <p:cNvPr id="6" name="Retângulo 5"/>
          <p:cNvSpPr/>
          <p:nvPr/>
        </p:nvSpPr>
        <p:spPr>
          <a:xfrm>
            <a:off x="3419872" y="260648"/>
            <a:ext cx="4176464" cy="2016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dirty="0" smtClean="0"/>
              <a:t>*</a:t>
            </a:r>
            <a:r>
              <a:rPr lang="pt-BR" sz="1200" dirty="0" err="1" smtClean="0"/>
              <a:t>cpp</a:t>
            </a:r>
            <a:endParaRPr lang="pt-BR" sz="1200" dirty="0" smtClean="0"/>
          </a:p>
          <a:p>
            <a:r>
              <a:rPr lang="pt-BR" sz="1200" b="1" dirty="0" smtClean="0">
                <a:solidFill>
                  <a:srgbClr val="FF0000"/>
                </a:solidFill>
              </a:rPr>
              <a:t>giro </a:t>
            </a:r>
            <a:r>
              <a:rPr lang="pt-BR" sz="1200" b="1" dirty="0" err="1" smtClean="0">
                <a:solidFill>
                  <a:srgbClr val="FF0000"/>
                </a:solidFill>
              </a:rPr>
              <a:t>res</a:t>
            </a:r>
            <a:r>
              <a:rPr lang="pt-BR" sz="1200" b="1" dirty="0" smtClean="0">
                <a:solidFill>
                  <a:srgbClr val="FF0000"/>
                </a:solidFill>
              </a:rPr>
              <a:t> = </a:t>
            </a:r>
            <a:r>
              <a:rPr lang="pt-BR" sz="1200" b="1" dirty="0" err="1" smtClean="0">
                <a:solidFill>
                  <a:srgbClr val="FF0000"/>
                </a:solidFill>
              </a:rPr>
              <a:t>get_giroscopio</a:t>
            </a:r>
            <a:r>
              <a:rPr lang="pt-BR" sz="1200" b="1" dirty="0" smtClean="0">
                <a:solidFill>
                  <a:srgbClr val="FF0000"/>
                </a:solidFill>
              </a:rPr>
              <a:t>() { </a:t>
            </a:r>
          </a:p>
          <a:p>
            <a:endParaRPr lang="pt-BR" sz="1200" dirty="0" smtClean="0"/>
          </a:p>
          <a:p>
            <a:r>
              <a:rPr lang="pt-BR" sz="1200" dirty="0" err="1" smtClean="0"/>
              <a:t>while</a:t>
            </a:r>
            <a:r>
              <a:rPr lang="pt-BR" sz="1200" dirty="0" smtClean="0"/>
              <a:t> (i &lt;= 200) {</a:t>
            </a:r>
          </a:p>
          <a:p>
            <a:r>
              <a:rPr lang="pt-BR" sz="1200" dirty="0" smtClean="0"/>
              <a:t>      </a:t>
            </a:r>
            <a:r>
              <a:rPr lang="pt-BR" sz="1200" dirty="0" err="1" smtClean="0"/>
              <a:t>if</a:t>
            </a:r>
            <a:r>
              <a:rPr lang="pt-BR" sz="1200" dirty="0" smtClean="0"/>
              <a:t> (</a:t>
            </a:r>
            <a:r>
              <a:rPr lang="pt-BR" sz="1200" dirty="0" err="1" smtClean="0"/>
              <a:t>millis</a:t>
            </a:r>
            <a:r>
              <a:rPr lang="pt-BR" sz="1200" dirty="0" smtClean="0"/>
              <a:t>() - </a:t>
            </a:r>
            <a:r>
              <a:rPr lang="pt-BR" sz="1200" dirty="0" err="1" smtClean="0"/>
              <a:t>previousMillis</a:t>
            </a:r>
            <a:r>
              <a:rPr lang="pt-BR" sz="1200" dirty="0" smtClean="0"/>
              <a:t> &gt;= 10) {</a:t>
            </a:r>
          </a:p>
          <a:p>
            <a:r>
              <a:rPr lang="pt-BR" sz="1200" dirty="0" smtClean="0"/>
              <a:t>        </a:t>
            </a:r>
            <a:r>
              <a:rPr lang="pt-BR" sz="1200" dirty="0" err="1" smtClean="0"/>
              <a:t>previousMillis</a:t>
            </a:r>
            <a:r>
              <a:rPr lang="pt-BR" sz="1200" dirty="0" smtClean="0"/>
              <a:t> = </a:t>
            </a:r>
            <a:r>
              <a:rPr lang="pt-BR" sz="1200" dirty="0" err="1" smtClean="0"/>
              <a:t>millis</a:t>
            </a:r>
            <a:r>
              <a:rPr lang="pt-BR" sz="1200" dirty="0" smtClean="0"/>
              <a:t>();</a:t>
            </a:r>
          </a:p>
          <a:p>
            <a:r>
              <a:rPr lang="pt-BR" sz="1200" dirty="0" smtClean="0"/>
              <a:t>        </a:t>
            </a:r>
            <a:r>
              <a:rPr lang="pt-BR" sz="1200" b="1" dirty="0" err="1" smtClean="0"/>
              <a:t>read_sensor_giroscopio</a:t>
            </a:r>
            <a:r>
              <a:rPr lang="pt-BR" sz="1200" b="1" dirty="0" smtClean="0"/>
              <a:t>(&amp;</a:t>
            </a:r>
            <a:r>
              <a:rPr lang="pt-BR" sz="1200" b="1" dirty="0" err="1" smtClean="0"/>
              <a:t>kalmanPitch</a:t>
            </a:r>
            <a:r>
              <a:rPr lang="pt-BR" sz="1200" b="1" dirty="0" smtClean="0"/>
              <a:t>, &amp;</a:t>
            </a:r>
            <a:r>
              <a:rPr lang="pt-BR" sz="1200" b="1" dirty="0" err="1" smtClean="0"/>
              <a:t>kalmanRoll</a:t>
            </a:r>
            <a:r>
              <a:rPr lang="pt-BR" sz="1200" b="1" dirty="0" smtClean="0"/>
              <a:t>);</a:t>
            </a:r>
          </a:p>
          <a:p>
            <a:r>
              <a:rPr lang="pt-BR" sz="1200" dirty="0" smtClean="0"/>
              <a:t>        i++;</a:t>
            </a:r>
          </a:p>
          <a:p>
            <a:r>
              <a:rPr lang="pt-BR" sz="1200" dirty="0" smtClean="0"/>
              <a:t>      }</a:t>
            </a:r>
          </a:p>
          <a:p>
            <a:r>
              <a:rPr lang="pt-BR" sz="1200" dirty="0" smtClean="0"/>
              <a:t>}</a:t>
            </a:r>
            <a:endParaRPr lang="pt-BR" sz="1200" dirty="0"/>
          </a:p>
        </p:txBody>
      </p:sp>
      <p:sp>
        <p:nvSpPr>
          <p:cNvPr id="7" name="Retângulo 6"/>
          <p:cNvSpPr/>
          <p:nvPr/>
        </p:nvSpPr>
        <p:spPr>
          <a:xfrm>
            <a:off x="3419872" y="2564904"/>
            <a:ext cx="4176464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dirty="0" smtClean="0"/>
              <a:t>*</a:t>
            </a:r>
            <a:r>
              <a:rPr lang="pt-BR" sz="1200" dirty="0" err="1" smtClean="0"/>
              <a:t>cpp</a:t>
            </a:r>
            <a:endParaRPr lang="pt-BR" sz="1200" dirty="0" smtClean="0"/>
          </a:p>
          <a:p>
            <a:r>
              <a:rPr lang="pt-BR" sz="1200" b="1" dirty="0" smtClean="0"/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read_sensor_giroscopio</a:t>
            </a:r>
            <a:r>
              <a:rPr lang="pt-BR" sz="1200" b="1" dirty="0" smtClean="0">
                <a:solidFill>
                  <a:srgbClr val="FF0000"/>
                </a:solidFill>
              </a:rPr>
              <a:t>(&amp;</a:t>
            </a:r>
            <a:r>
              <a:rPr lang="pt-BR" sz="1200" b="1" dirty="0" err="1" smtClean="0">
                <a:solidFill>
                  <a:srgbClr val="FF0000"/>
                </a:solidFill>
              </a:rPr>
              <a:t>kalmanPitch</a:t>
            </a:r>
            <a:r>
              <a:rPr lang="pt-BR" sz="1200" b="1" dirty="0" smtClean="0">
                <a:solidFill>
                  <a:srgbClr val="FF0000"/>
                </a:solidFill>
              </a:rPr>
              <a:t>, &amp;</a:t>
            </a:r>
            <a:r>
              <a:rPr lang="pt-BR" sz="1200" b="1" dirty="0" err="1" smtClean="0">
                <a:solidFill>
                  <a:srgbClr val="FF0000"/>
                </a:solidFill>
              </a:rPr>
              <a:t>kalmanRoll</a:t>
            </a:r>
            <a:r>
              <a:rPr lang="pt-BR" sz="1200" b="1" dirty="0" smtClean="0">
                <a:solidFill>
                  <a:srgbClr val="FF0000"/>
                </a:solidFill>
              </a:rPr>
              <a:t>) {</a:t>
            </a:r>
          </a:p>
          <a:p>
            <a:endParaRPr lang="pt-BR" sz="1200" dirty="0" smtClean="0"/>
          </a:p>
          <a:p>
            <a:r>
              <a:rPr lang="pt-BR" sz="1200" dirty="0" smtClean="0"/>
              <a:t> </a:t>
            </a:r>
            <a:r>
              <a:rPr lang="pt-BR" sz="1200" b="1" dirty="0" err="1" smtClean="0"/>
              <a:t>float</a:t>
            </a:r>
            <a:r>
              <a:rPr lang="pt-BR" sz="1200" b="1" dirty="0" smtClean="0"/>
              <a:t> </a:t>
            </a:r>
            <a:r>
              <a:rPr lang="pt-BR" sz="1200" b="1" dirty="0" err="1" smtClean="0"/>
              <a:t>kalAnglePitch</a:t>
            </a:r>
            <a:r>
              <a:rPr lang="pt-BR" sz="1200" b="1" dirty="0" smtClean="0"/>
              <a:t> = </a:t>
            </a:r>
            <a:r>
              <a:rPr lang="pt-BR" sz="1200" b="1" dirty="0" err="1" smtClean="0"/>
              <a:t>kalmanUpdate</a:t>
            </a:r>
            <a:r>
              <a:rPr lang="pt-BR" sz="1200" b="1" dirty="0" smtClean="0"/>
              <a:t>(</a:t>
            </a:r>
            <a:r>
              <a:rPr lang="pt-BR" sz="1200" b="1" dirty="0" err="1" smtClean="0"/>
              <a:t>kalPitch</a:t>
            </a:r>
            <a:r>
              <a:rPr lang="pt-BR" sz="1200" b="1" dirty="0" smtClean="0"/>
              <a:t>, </a:t>
            </a:r>
            <a:r>
              <a:rPr lang="pt-BR" sz="1200" b="1" dirty="0" err="1" smtClean="0"/>
              <a:t>pitch</a:t>
            </a:r>
            <a:r>
              <a:rPr lang="pt-BR" sz="1200" b="1" dirty="0" smtClean="0"/>
              <a:t>, </a:t>
            </a:r>
            <a:r>
              <a:rPr lang="pt-BR" sz="1200" b="1" dirty="0" err="1" smtClean="0"/>
              <a:t>gyroY</a:t>
            </a:r>
            <a:r>
              <a:rPr lang="pt-BR" sz="1200" b="1" dirty="0" smtClean="0"/>
              <a:t>, </a:t>
            </a:r>
            <a:r>
              <a:rPr lang="pt-BR" sz="1200" b="1" dirty="0" err="1" smtClean="0"/>
              <a:t>dt</a:t>
            </a:r>
            <a:r>
              <a:rPr lang="pt-BR" sz="1200" b="1" dirty="0" smtClean="0"/>
              <a:t>);</a:t>
            </a:r>
          </a:p>
          <a:p>
            <a:r>
              <a:rPr lang="pt-BR" sz="1200" b="1" dirty="0" smtClean="0"/>
              <a:t> </a:t>
            </a:r>
            <a:r>
              <a:rPr lang="pt-BR" sz="1200" b="1" dirty="0" err="1" smtClean="0"/>
              <a:t>float</a:t>
            </a:r>
            <a:r>
              <a:rPr lang="pt-BR" sz="1200" b="1" dirty="0" smtClean="0"/>
              <a:t> </a:t>
            </a:r>
            <a:r>
              <a:rPr lang="pt-BR" sz="1200" b="1" dirty="0" err="1" smtClean="0"/>
              <a:t>kalAngleRoll</a:t>
            </a:r>
            <a:r>
              <a:rPr lang="pt-BR" sz="1200" b="1" dirty="0" smtClean="0"/>
              <a:t>  = </a:t>
            </a:r>
            <a:r>
              <a:rPr lang="pt-BR" sz="1200" b="1" dirty="0" err="1" smtClean="0"/>
              <a:t>kalmanUpdate</a:t>
            </a:r>
            <a:r>
              <a:rPr lang="pt-BR" sz="1200" b="1" dirty="0" smtClean="0"/>
              <a:t>(</a:t>
            </a:r>
            <a:r>
              <a:rPr lang="pt-BR" sz="1200" b="1" dirty="0" err="1" smtClean="0"/>
              <a:t>kalRoll</a:t>
            </a:r>
            <a:r>
              <a:rPr lang="pt-BR" sz="1200" b="1" dirty="0" smtClean="0"/>
              <a:t>, </a:t>
            </a:r>
            <a:r>
              <a:rPr lang="pt-BR" sz="1200" b="1" dirty="0" err="1" smtClean="0"/>
              <a:t>roll</a:t>
            </a:r>
            <a:r>
              <a:rPr lang="pt-BR" sz="1200" b="1" dirty="0" smtClean="0"/>
              <a:t>,  </a:t>
            </a:r>
            <a:r>
              <a:rPr lang="pt-BR" sz="1200" b="1" dirty="0" err="1" smtClean="0"/>
              <a:t>gyroX</a:t>
            </a:r>
            <a:r>
              <a:rPr lang="pt-BR" sz="1200" b="1" dirty="0" smtClean="0"/>
              <a:t>, </a:t>
            </a:r>
            <a:r>
              <a:rPr lang="pt-BR" sz="1200" b="1" dirty="0" err="1" smtClean="0"/>
              <a:t>dt</a:t>
            </a:r>
            <a:r>
              <a:rPr lang="pt-BR" sz="1200" b="1" dirty="0" smtClean="0"/>
              <a:t>);</a:t>
            </a:r>
          </a:p>
          <a:p>
            <a:r>
              <a:rPr lang="pt-BR" sz="1200" dirty="0" smtClean="0"/>
              <a:t>}</a:t>
            </a:r>
            <a:endParaRPr lang="pt-BR" sz="1200" dirty="0"/>
          </a:p>
        </p:txBody>
      </p:sp>
      <p:sp>
        <p:nvSpPr>
          <p:cNvPr id="8" name="Retângulo 7"/>
          <p:cNvSpPr/>
          <p:nvPr/>
        </p:nvSpPr>
        <p:spPr>
          <a:xfrm>
            <a:off x="2915816" y="4077072"/>
            <a:ext cx="5904656" cy="144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dirty="0" smtClean="0"/>
              <a:t>*</a:t>
            </a:r>
            <a:r>
              <a:rPr lang="pt-BR" sz="1200" dirty="0" err="1" smtClean="0"/>
              <a:t>cpp</a:t>
            </a:r>
            <a:endParaRPr lang="pt-BR" sz="1200" dirty="0" smtClean="0"/>
          </a:p>
          <a:p>
            <a:r>
              <a:rPr lang="pt-BR" sz="1200" b="1" dirty="0" smtClean="0"/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float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kalmanUpdate</a:t>
            </a:r>
            <a:r>
              <a:rPr lang="pt-BR" sz="1200" b="1" dirty="0" smtClean="0">
                <a:solidFill>
                  <a:srgbClr val="FF0000"/>
                </a:solidFill>
              </a:rPr>
              <a:t>(</a:t>
            </a:r>
            <a:r>
              <a:rPr lang="pt-BR" sz="1200" b="1" dirty="0" err="1" smtClean="0">
                <a:solidFill>
                  <a:srgbClr val="FF0000"/>
                </a:solidFill>
              </a:rPr>
              <a:t>struct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kalmanDados</a:t>
            </a:r>
            <a:r>
              <a:rPr lang="pt-BR" sz="1200" b="1" dirty="0" smtClean="0">
                <a:solidFill>
                  <a:srgbClr val="FF0000"/>
                </a:solidFill>
              </a:rPr>
              <a:t> *k, </a:t>
            </a:r>
            <a:r>
              <a:rPr lang="pt-BR" sz="1200" b="1" dirty="0" err="1" smtClean="0">
                <a:solidFill>
                  <a:srgbClr val="FF0000"/>
                </a:solidFill>
              </a:rPr>
              <a:t>float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newAngle</a:t>
            </a:r>
            <a:r>
              <a:rPr lang="pt-BR" sz="1200" b="1" dirty="0" smtClean="0">
                <a:solidFill>
                  <a:srgbClr val="FF0000"/>
                </a:solidFill>
              </a:rPr>
              <a:t>, </a:t>
            </a:r>
            <a:r>
              <a:rPr lang="pt-BR" sz="1200" b="1" dirty="0" err="1" smtClean="0">
                <a:solidFill>
                  <a:srgbClr val="FF0000"/>
                </a:solidFill>
              </a:rPr>
              <a:t>float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newRate</a:t>
            </a:r>
            <a:r>
              <a:rPr lang="pt-BR" sz="1200" b="1" dirty="0" smtClean="0">
                <a:solidFill>
                  <a:srgbClr val="FF0000"/>
                </a:solidFill>
              </a:rPr>
              <a:t>, </a:t>
            </a:r>
            <a:r>
              <a:rPr lang="pt-BR" sz="1200" b="1" dirty="0" err="1" smtClean="0">
                <a:solidFill>
                  <a:srgbClr val="FF0000"/>
                </a:solidFill>
              </a:rPr>
              <a:t>float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err="1" smtClean="0">
                <a:solidFill>
                  <a:srgbClr val="FF0000"/>
                </a:solidFill>
              </a:rPr>
              <a:t>dt</a:t>
            </a:r>
            <a:r>
              <a:rPr lang="pt-BR" sz="1200" b="1" dirty="0" smtClean="0">
                <a:solidFill>
                  <a:srgbClr val="FF0000"/>
                </a:solidFill>
              </a:rPr>
              <a:t>) {</a:t>
            </a:r>
            <a:endParaRPr lang="pt-BR" sz="1200" dirty="0" smtClean="0"/>
          </a:p>
          <a:p>
            <a:r>
              <a:rPr lang="pt-BR" sz="1200" dirty="0" smtClean="0"/>
              <a:t> </a:t>
            </a:r>
          </a:p>
          <a:p>
            <a:r>
              <a:rPr lang="pt-BR" sz="1200" dirty="0" smtClean="0"/>
              <a:t>Altera os dados da </a:t>
            </a:r>
            <a:r>
              <a:rPr lang="pt-BR" sz="1200" dirty="0" err="1" smtClean="0"/>
              <a:t>struct</a:t>
            </a:r>
            <a:endParaRPr lang="pt-BR" sz="1200" dirty="0" smtClean="0"/>
          </a:p>
          <a:p>
            <a:r>
              <a:rPr lang="pt-BR" sz="1200" dirty="0" smtClean="0"/>
              <a:t>}</a:t>
            </a:r>
            <a:endParaRPr lang="pt-BR" sz="1200" dirty="0"/>
          </a:p>
        </p:txBody>
      </p:sp>
      <p:sp>
        <p:nvSpPr>
          <p:cNvPr id="9" name="Retângulo 8"/>
          <p:cNvSpPr/>
          <p:nvPr/>
        </p:nvSpPr>
        <p:spPr>
          <a:xfrm>
            <a:off x="-972616" y="2996952"/>
            <a:ext cx="3600400" cy="22322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 smtClean="0"/>
              <a:t>*h</a:t>
            </a:r>
          </a:p>
          <a:p>
            <a:r>
              <a:rPr lang="pt-BR" sz="1100" b="1" dirty="0" err="1" smtClean="0"/>
              <a:t>struct</a:t>
            </a:r>
            <a:r>
              <a:rPr lang="pt-BR" sz="1100" b="1" dirty="0" smtClean="0"/>
              <a:t> </a:t>
            </a:r>
            <a:r>
              <a:rPr lang="pt-BR" sz="1100" b="1" dirty="0" err="1" smtClean="0"/>
              <a:t>kalmanDados</a:t>
            </a:r>
            <a:r>
              <a:rPr lang="pt-BR" sz="1100" b="1" dirty="0" smtClean="0"/>
              <a:t> {</a:t>
            </a:r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</a:t>
            </a:r>
            <a:r>
              <a:rPr lang="pt-BR" sz="1100" b="1" dirty="0" err="1" smtClean="0"/>
              <a:t>Q_angle</a:t>
            </a:r>
            <a:r>
              <a:rPr lang="pt-BR" sz="1100" b="1" dirty="0" smtClean="0"/>
              <a:t> = 0.001;   // ruído do Angulo</a:t>
            </a:r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</a:t>
            </a:r>
            <a:r>
              <a:rPr lang="pt-BR" sz="1100" b="1" dirty="0" err="1" smtClean="0"/>
              <a:t>Q_bias</a:t>
            </a:r>
            <a:r>
              <a:rPr lang="pt-BR" sz="1100" b="1" dirty="0" smtClean="0"/>
              <a:t>  = 0.003;   // ruído do bias do </a:t>
            </a:r>
            <a:r>
              <a:rPr lang="pt-BR" sz="1100" b="1" dirty="0" err="1" smtClean="0"/>
              <a:t>gyro</a:t>
            </a:r>
            <a:endParaRPr lang="pt-BR" sz="1100" b="1" dirty="0" smtClean="0"/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R = 0.03;          // ruído da </a:t>
            </a:r>
            <a:r>
              <a:rPr lang="pt-BR" sz="1100" b="1" dirty="0" err="1" smtClean="0"/>
              <a:t>mediçãoo</a:t>
            </a:r>
            <a:r>
              <a:rPr lang="pt-BR" sz="1100" b="1" dirty="0" smtClean="0"/>
              <a:t> (</a:t>
            </a:r>
            <a:r>
              <a:rPr lang="pt-BR" sz="1100" b="1" dirty="0" err="1" smtClean="0"/>
              <a:t>acelerometro</a:t>
            </a:r>
            <a:r>
              <a:rPr lang="pt-BR" sz="1100" b="1" dirty="0" smtClean="0"/>
              <a:t>)</a:t>
            </a:r>
          </a:p>
          <a:p>
            <a:endParaRPr lang="pt-BR" sz="1100" b="1" dirty="0" smtClean="0"/>
          </a:p>
          <a:p>
            <a:r>
              <a:rPr lang="pt-BR" sz="1100" b="1" dirty="0" smtClean="0">
                <a:solidFill>
                  <a:srgbClr val="FF0000"/>
                </a:solidFill>
              </a:rPr>
              <a:t>  </a:t>
            </a:r>
            <a:r>
              <a:rPr lang="pt-BR" sz="1100" b="1" dirty="0" err="1" smtClean="0">
                <a:solidFill>
                  <a:srgbClr val="FF0000"/>
                </a:solidFill>
              </a:rPr>
              <a:t>float</a:t>
            </a:r>
            <a:r>
              <a:rPr lang="pt-BR" sz="1100" b="1" dirty="0" smtClean="0">
                <a:solidFill>
                  <a:srgbClr val="FF0000"/>
                </a:solidFill>
              </a:rPr>
              <a:t> </a:t>
            </a:r>
            <a:r>
              <a:rPr lang="pt-BR" sz="1100" b="1" dirty="0" err="1" smtClean="0">
                <a:solidFill>
                  <a:srgbClr val="FF0000"/>
                </a:solidFill>
              </a:rPr>
              <a:t>angle</a:t>
            </a:r>
            <a:r>
              <a:rPr lang="pt-BR" sz="1100" b="1" dirty="0" smtClean="0">
                <a:solidFill>
                  <a:srgbClr val="FF0000"/>
                </a:solidFill>
              </a:rPr>
              <a:t> = 0.0</a:t>
            </a:r>
            <a:r>
              <a:rPr lang="pt-BR" sz="1100" b="1" dirty="0" smtClean="0"/>
              <a:t>;       // Angulo estimado</a:t>
            </a:r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bias = 0.0;        // bias do giroscópio</a:t>
            </a:r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rate = 0.0;        // taxa corrigida</a:t>
            </a:r>
          </a:p>
          <a:p>
            <a:endParaRPr lang="pt-BR" sz="1100" b="1" dirty="0" smtClean="0"/>
          </a:p>
          <a:p>
            <a:r>
              <a:rPr lang="pt-BR" sz="1100" b="1" dirty="0" smtClean="0"/>
              <a:t>  </a:t>
            </a:r>
            <a:r>
              <a:rPr lang="pt-BR" sz="1100" b="1" dirty="0" err="1" smtClean="0"/>
              <a:t>float</a:t>
            </a:r>
            <a:r>
              <a:rPr lang="pt-BR" sz="1100" b="1" dirty="0" smtClean="0"/>
              <a:t> P[2][2] = {{0,0},{0,0}}; // matriz de covariância</a:t>
            </a:r>
          </a:p>
          <a:p>
            <a:r>
              <a:rPr lang="pt-BR" sz="1100" b="1" dirty="0" smtClean="0"/>
              <a:t>};</a:t>
            </a:r>
            <a:endParaRPr lang="pt-BR" sz="1100" dirty="0"/>
          </a:p>
        </p:txBody>
      </p:sp>
      <p:cxnSp>
        <p:nvCxnSpPr>
          <p:cNvPr id="11" name="Conector de seta reta 10"/>
          <p:cNvCxnSpPr>
            <a:stCxn id="4" idx="3"/>
            <a:endCxn id="6" idx="1"/>
          </p:cNvCxnSpPr>
          <p:nvPr/>
        </p:nvCxnSpPr>
        <p:spPr>
          <a:xfrm>
            <a:off x="2411760" y="1160748"/>
            <a:ext cx="1008112" cy="10801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orma 16"/>
          <p:cNvCxnSpPr>
            <a:stCxn id="7" idx="3"/>
            <a:endCxn id="8" idx="3"/>
          </p:cNvCxnSpPr>
          <p:nvPr/>
        </p:nvCxnSpPr>
        <p:spPr>
          <a:xfrm>
            <a:off x="7596336" y="3104964"/>
            <a:ext cx="1224136" cy="1692188"/>
          </a:xfrm>
          <a:prstGeom prst="bentConnector3">
            <a:avLst>
              <a:gd name="adj1" fmla="val 118674"/>
            </a:avLst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angulado 19"/>
          <p:cNvCxnSpPr>
            <a:stCxn id="6" idx="3"/>
            <a:endCxn id="7" idx="3"/>
          </p:cNvCxnSpPr>
          <p:nvPr/>
        </p:nvCxnSpPr>
        <p:spPr>
          <a:xfrm>
            <a:off x="7596336" y="1268760"/>
            <a:ext cx="12700" cy="1836204"/>
          </a:xfrm>
          <a:prstGeom prst="bentConnector3">
            <a:avLst>
              <a:gd name="adj1" fmla="val 1800000"/>
            </a:avLst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8" idx="2"/>
            <a:endCxn id="9" idx="2"/>
          </p:cNvCxnSpPr>
          <p:nvPr/>
        </p:nvCxnSpPr>
        <p:spPr>
          <a:xfrm rot="5400000" flipH="1">
            <a:off x="3203848" y="2852936"/>
            <a:ext cx="288032" cy="5040560"/>
          </a:xfrm>
          <a:prstGeom prst="bentConnector3">
            <a:avLst>
              <a:gd name="adj1" fmla="val -79366"/>
            </a:avLst>
          </a:prstGeom>
          <a:ln w="381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do 25"/>
          <p:cNvCxnSpPr>
            <a:stCxn id="8" idx="0"/>
            <a:endCxn id="7" idx="2"/>
          </p:cNvCxnSpPr>
          <p:nvPr/>
        </p:nvCxnSpPr>
        <p:spPr>
          <a:xfrm rot="16200000" flipV="1">
            <a:off x="5472100" y="3681028"/>
            <a:ext cx="432048" cy="36004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7" idx="0"/>
            <a:endCxn id="6" idx="2"/>
          </p:cNvCxnSpPr>
          <p:nvPr/>
        </p:nvCxnSpPr>
        <p:spPr>
          <a:xfrm rot="5400000" flipH="1" flipV="1">
            <a:off x="5364088" y="2420888"/>
            <a:ext cx="288032" cy="1270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Forma 29"/>
          <p:cNvCxnSpPr>
            <a:stCxn id="6" idx="1"/>
            <a:endCxn id="4" idx="2"/>
          </p:cNvCxnSpPr>
          <p:nvPr/>
        </p:nvCxnSpPr>
        <p:spPr>
          <a:xfrm rot="10800000" flipV="1">
            <a:off x="1295636" y="1268760"/>
            <a:ext cx="2124236" cy="576064"/>
          </a:xfrm>
          <a:prstGeom prst="bentConnector4">
            <a:avLst>
              <a:gd name="adj1" fmla="val 23729"/>
              <a:gd name="adj2" fmla="val 214683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1560" y="3212976"/>
            <a:ext cx="1008112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Lilygo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3059832" y="3104964"/>
            <a:ext cx="1152128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1619672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</a:t>
            </a:r>
            <a:endParaRPr lang="pt-BR" sz="1200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2483768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2</a:t>
            </a:r>
            <a:endParaRPr lang="pt-BR" sz="12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419872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3</a:t>
            </a:r>
            <a:endParaRPr lang="pt-BR" sz="1200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4355976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4</a:t>
            </a:r>
            <a:endParaRPr lang="pt-BR" sz="12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220072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5</a:t>
            </a:r>
            <a:endParaRPr lang="pt-BR" sz="1200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084168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6</a:t>
            </a:r>
            <a:endParaRPr lang="pt-BR" sz="12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948264" y="1052736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7</a:t>
            </a:r>
            <a:endParaRPr lang="pt-BR" sz="1200" dirty="0"/>
          </a:p>
        </p:txBody>
      </p:sp>
      <p:sp>
        <p:nvSpPr>
          <p:cNvPr id="14" name="Retângulo 13"/>
          <p:cNvSpPr/>
          <p:nvPr/>
        </p:nvSpPr>
        <p:spPr>
          <a:xfrm>
            <a:off x="6156176" y="3104964"/>
            <a:ext cx="1152128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</a:t>
            </a:r>
            <a:endParaRPr lang="pt-BR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0517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</a:t>
            </a:r>
            <a:endParaRPr lang="pt-BR" sz="1200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915816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2</a:t>
            </a:r>
            <a:endParaRPr lang="pt-BR" sz="1200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8519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3</a:t>
            </a:r>
            <a:endParaRPr lang="pt-BR" sz="1200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4788024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4</a:t>
            </a:r>
            <a:endParaRPr lang="pt-BR" sz="1200" dirty="0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56521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5</a:t>
            </a:r>
            <a:endParaRPr lang="pt-BR" sz="1200" dirty="0"/>
          </a:p>
        </p:txBody>
      </p:sp>
      <p:sp>
        <p:nvSpPr>
          <p:cNvPr id="20" name="Retângulo de cantos arredondados 19"/>
          <p:cNvSpPr/>
          <p:nvPr/>
        </p:nvSpPr>
        <p:spPr>
          <a:xfrm>
            <a:off x="6516216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6</a:t>
            </a:r>
            <a:endParaRPr lang="pt-BR" sz="1200" dirty="0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7380312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7</a:t>
            </a:r>
            <a:endParaRPr lang="pt-BR" sz="1200" dirty="0"/>
          </a:p>
        </p:txBody>
      </p:sp>
      <p:cxnSp>
        <p:nvCxnSpPr>
          <p:cNvPr id="23" name="Conector angulado 22"/>
          <p:cNvCxnSpPr>
            <a:stCxn id="4" idx="3"/>
            <a:endCxn id="5" idx="1"/>
          </p:cNvCxnSpPr>
          <p:nvPr/>
        </p:nvCxnSpPr>
        <p:spPr>
          <a:xfrm>
            <a:off x="1619672" y="3501008"/>
            <a:ext cx="1440160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4211960" y="3501008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do 26"/>
          <p:cNvCxnSpPr>
            <a:stCxn id="7" idx="2"/>
            <a:endCxn id="5" idx="0"/>
          </p:cNvCxnSpPr>
          <p:nvPr/>
        </p:nvCxnSpPr>
        <p:spPr>
          <a:xfrm rot="16200000" flipH="1">
            <a:off x="2015694" y="1484762"/>
            <a:ext cx="1620180" cy="16202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do 28"/>
          <p:cNvCxnSpPr>
            <a:stCxn id="8" idx="2"/>
            <a:endCxn id="5" idx="0"/>
          </p:cNvCxnSpPr>
          <p:nvPr/>
        </p:nvCxnSpPr>
        <p:spPr>
          <a:xfrm rot="16200000" flipH="1">
            <a:off x="2447742" y="1916810"/>
            <a:ext cx="1620180" cy="7561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9" idx="2"/>
            <a:endCxn id="5" idx="0"/>
          </p:cNvCxnSpPr>
          <p:nvPr/>
        </p:nvCxnSpPr>
        <p:spPr>
          <a:xfrm rot="5400000">
            <a:off x="2915794" y="2204886"/>
            <a:ext cx="1620180" cy="1799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do 32"/>
          <p:cNvCxnSpPr>
            <a:stCxn id="10" idx="2"/>
            <a:endCxn id="5" idx="0"/>
          </p:cNvCxnSpPr>
          <p:nvPr/>
        </p:nvCxnSpPr>
        <p:spPr>
          <a:xfrm rot="5400000">
            <a:off x="3383846" y="1736834"/>
            <a:ext cx="1620180" cy="11160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do 34"/>
          <p:cNvCxnSpPr>
            <a:stCxn id="11" idx="2"/>
            <a:endCxn id="5" idx="0"/>
          </p:cNvCxnSpPr>
          <p:nvPr/>
        </p:nvCxnSpPr>
        <p:spPr>
          <a:xfrm rot="5400000">
            <a:off x="3815894" y="1304786"/>
            <a:ext cx="1620180" cy="1980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do 36"/>
          <p:cNvCxnSpPr>
            <a:stCxn id="12" idx="2"/>
            <a:endCxn id="5" idx="0"/>
          </p:cNvCxnSpPr>
          <p:nvPr/>
        </p:nvCxnSpPr>
        <p:spPr>
          <a:xfrm rot="5400000">
            <a:off x="4247942" y="872738"/>
            <a:ext cx="1620180" cy="28442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13" idx="2"/>
            <a:endCxn id="5" idx="0"/>
          </p:cNvCxnSpPr>
          <p:nvPr/>
        </p:nvCxnSpPr>
        <p:spPr>
          <a:xfrm rot="5400000">
            <a:off x="4679990" y="440690"/>
            <a:ext cx="1620180" cy="37083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4" idx="2"/>
            <a:endCxn id="15" idx="0"/>
          </p:cNvCxnSpPr>
          <p:nvPr/>
        </p:nvCxnSpPr>
        <p:spPr>
          <a:xfrm rot="5400000">
            <a:off x="3995914" y="2348858"/>
            <a:ext cx="1188132" cy="42845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4" idx="2"/>
            <a:endCxn id="16" idx="0"/>
          </p:cNvCxnSpPr>
          <p:nvPr/>
        </p:nvCxnSpPr>
        <p:spPr>
          <a:xfrm rot="5400000">
            <a:off x="4427962" y="2780906"/>
            <a:ext cx="1188132" cy="34204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do 49"/>
          <p:cNvCxnSpPr>
            <a:stCxn id="14" idx="2"/>
            <a:endCxn id="17" idx="0"/>
          </p:cNvCxnSpPr>
          <p:nvPr/>
        </p:nvCxnSpPr>
        <p:spPr>
          <a:xfrm rot="5400000">
            <a:off x="4896014" y="3248958"/>
            <a:ext cx="1188132" cy="24843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do 51"/>
          <p:cNvCxnSpPr>
            <a:stCxn id="14" idx="2"/>
            <a:endCxn id="18" idx="0"/>
          </p:cNvCxnSpPr>
          <p:nvPr/>
        </p:nvCxnSpPr>
        <p:spPr>
          <a:xfrm rot="5400000">
            <a:off x="5364066" y="3717010"/>
            <a:ext cx="1188132" cy="154821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do 53"/>
          <p:cNvCxnSpPr>
            <a:stCxn id="14" idx="2"/>
            <a:endCxn id="19" idx="0"/>
          </p:cNvCxnSpPr>
          <p:nvPr/>
        </p:nvCxnSpPr>
        <p:spPr>
          <a:xfrm rot="5400000">
            <a:off x="5796114" y="4149058"/>
            <a:ext cx="1188132" cy="6841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>
            <a:stCxn id="14" idx="2"/>
            <a:endCxn id="20" idx="0"/>
          </p:cNvCxnSpPr>
          <p:nvPr/>
        </p:nvCxnSpPr>
        <p:spPr>
          <a:xfrm rot="16200000" flipH="1">
            <a:off x="6228162" y="4401130"/>
            <a:ext cx="1188132" cy="1799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do 57"/>
          <p:cNvCxnSpPr>
            <a:stCxn id="14" idx="2"/>
            <a:endCxn id="21" idx="0"/>
          </p:cNvCxnSpPr>
          <p:nvPr/>
        </p:nvCxnSpPr>
        <p:spPr>
          <a:xfrm rot="16200000" flipH="1">
            <a:off x="6660210" y="3969082"/>
            <a:ext cx="1188132" cy="10440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2051720" y="1916832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2987824" y="191683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3923928" y="1916832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4788024" y="191683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5724128" y="1916832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6588224" y="191683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1547664" y="3212976"/>
            <a:ext cx="15451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smtClean="0"/>
              <a:t>3m</a:t>
            </a:r>
          </a:p>
          <a:p>
            <a:pPr algn="ctr"/>
            <a:r>
              <a:rPr lang="pt-BR" sz="1200" dirty="0" smtClean="0"/>
              <a:t>(testar até 10 metros)</a:t>
            </a:r>
            <a:endParaRPr lang="pt-BR" dirty="0"/>
          </a:p>
        </p:txBody>
      </p:sp>
      <p:sp>
        <p:nvSpPr>
          <p:cNvPr id="66" name="CaixaDeTexto 65"/>
          <p:cNvSpPr txBox="1"/>
          <p:nvPr/>
        </p:nvSpPr>
        <p:spPr>
          <a:xfrm>
            <a:off x="4211960" y="3212976"/>
            <a:ext cx="1772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smtClean="0"/>
              <a:t>3m </a:t>
            </a:r>
          </a:p>
          <a:p>
            <a:pPr algn="ctr"/>
            <a:r>
              <a:rPr lang="pt-BR" sz="1400" dirty="0" smtClean="0"/>
              <a:t>(testar até 30 metros)</a:t>
            </a:r>
            <a:endParaRPr lang="pt-BR" sz="1400" dirty="0"/>
          </a:p>
        </p:txBody>
      </p:sp>
      <p:sp>
        <p:nvSpPr>
          <p:cNvPr id="67" name="CaixaDeTexto 66"/>
          <p:cNvSpPr txBox="1"/>
          <p:nvPr/>
        </p:nvSpPr>
        <p:spPr>
          <a:xfrm>
            <a:off x="2411760" y="450912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8" name="CaixaDeTexto 67"/>
          <p:cNvSpPr txBox="1"/>
          <p:nvPr/>
        </p:nvSpPr>
        <p:spPr>
          <a:xfrm>
            <a:off x="3347864" y="450912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4283968" y="450912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5148064" y="450912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6084168" y="450912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6948264" y="450912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imagem mostra um cabo elétrico preto com 20 vias internas, com blindagem. As duas vias são feitas de cobre estanhado, e cada uma coberta por uma camada de isolamento colorida com cores diferente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348880"/>
            <a:ext cx="792088" cy="792088"/>
          </a:xfrm>
          <a:prstGeom prst="rect">
            <a:avLst/>
          </a:prstGeom>
          <a:noFill/>
        </p:spPr>
      </p:pic>
      <p:sp>
        <p:nvSpPr>
          <p:cNvPr id="4" name="Retângulo 3"/>
          <p:cNvSpPr/>
          <p:nvPr/>
        </p:nvSpPr>
        <p:spPr>
          <a:xfrm>
            <a:off x="611560" y="3212976"/>
            <a:ext cx="1008112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Lilygo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843808" y="3068960"/>
            <a:ext cx="1944216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395536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1</a:t>
            </a:r>
            <a:endParaRPr lang="pt-BR" sz="1000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703692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2</a:t>
            </a:r>
            <a:endParaRPr lang="pt-BR" sz="10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011848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3</a:t>
            </a:r>
            <a:endParaRPr lang="pt-BR" sz="1000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4320004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4</a:t>
            </a:r>
            <a:endParaRPr lang="pt-BR" sz="10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28160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5</a:t>
            </a:r>
            <a:endParaRPr lang="pt-BR" sz="1000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936316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6</a:t>
            </a:r>
            <a:endParaRPr lang="pt-BR" sz="10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4472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7</a:t>
            </a:r>
            <a:endParaRPr lang="pt-BR" sz="1000" dirty="0"/>
          </a:p>
        </p:txBody>
      </p:sp>
      <p:sp>
        <p:nvSpPr>
          <p:cNvPr id="14" name="Retângulo 13"/>
          <p:cNvSpPr/>
          <p:nvPr/>
        </p:nvSpPr>
        <p:spPr>
          <a:xfrm>
            <a:off x="2843808" y="4077072"/>
            <a:ext cx="1944216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</a:t>
            </a:r>
            <a:endParaRPr lang="pt-BR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7092280" y="5517232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15</a:t>
            </a:r>
            <a:endParaRPr lang="pt-BR" sz="1200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1691680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9</a:t>
            </a:r>
            <a:endParaRPr lang="pt-BR" sz="1200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627784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10</a:t>
            </a:r>
            <a:endParaRPr lang="pt-BR" sz="1200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563888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11</a:t>
            </a:r>
            <a:endParaRPr lang="pt-BR" sz="1200" dirty="0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4427984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12</a:t>
            </a:r>
            <a:endParaRPr lang="pt-BR" sz="1200" dirty="0"/>
          </a:p>
        </p:txBody>
      </p:sp>
      <p:sp>
        <p:nvSpPr>
          <p:cNvPr id="20" name="Retângulo de cantos arredondados 19"/>
          <p:cNvSpPr/>
          <p:nvPr/>
        </p:nvSpPr>
        <p:spPr>
          <a:xfrm>
            <a:off x="5292080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13</a:t>
            </a:r>
            <a:endParaRPr lang="pt-BR" sz="1200" dirty="0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6156176" y="5507940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14</a:t>
            </a:r>
            <a:endParaRPr lang="pt-BR" sz="12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971600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2195736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3275856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4427984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5508104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6804248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1691680" y="292494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7" name="CaixaDeTexto 66"/>
          <p:cNvSpPr txBox="1"/>
          <p:nvPr/>
        </p:nvSpPr>
        <p:spPr>
          <a:xfrm>
            <a:off x="1835696" y="593998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8" name="CaixaDeTexto 67"/>
          <p:cNvSpPr txBox="1"/>
          <p:nvPr/>
        </p:nvSpPr>
        <p:spPr>
          <a:xfrm>
            <a:off x="2771800" y="593998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3707904" y="593998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4572000" y="593998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5508104" y="593998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6372200" y="593998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cxnSp>
        <p:nvCxnSpPr>
          <p:cNvPr id="51" name="Conector reto 50"/>
          <p:cNvCxnSpPr/>
          <p:nvPr/>
        </p:nvCxnSpPr>
        <p:spPr>
          <a:xfrm>
            <a:off x="1619672" y="3356992"/>
            <a:ext cx="1512168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1619672" y="3429000"/>
            <a:ext cx="1512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5" name="Conector reto 54"/>
          <p:cNvCxnSpPr/>
          <p:nvPr/>
        </p:nvCxnSpPr>
        <p:spPr>
          <a:xfrm>
            <a:off x="1619672" y="3501008"/>
            <a:ext cx="151216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7" name="Conector reto 56"/>
          <p:cNvCxnSpPr/>
          <p:nvPr/>
        </p:nvCxnSpPr>
        <p:spPr>
          <a:xfrm>
            <a:off x="1619672" y="3573016"/>
            <a:ext cx="151216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982858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3" name="Conector reto 82"/>
          <p:cNvCxnSpPr/>
          <p:nvPr/>
        </p:nvCxnSpPr>
        <p:spPr>
          <a:xfrm>
            <a:off x="990059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6" name="Conector reto 85"/>
          <p:cNvCxnSpPr/>
          <p:nvPr/>
        </p:nvCxnSpPr>
        <p:spPr>
          <a:xfrm>
            <a:off x="1018862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7" name="Conector reto 86"/>
          <p:cNvCxnSpPr/>
          <p:nvPr/>
        </p:nvCxnSpPr>
        <p:spPr>
          <a:xfrm>
            <a:off x="1026063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8" name="Conector reto 87"/>
          <p:cNvCxnSpPr/>
          <p:nvPr/>
        </p:nvCxnSpPr>
        <p:spPr>
          <a:xfrm>
            <a:off x="946854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9" name="Conector reto 88"/>
          <p:cNvCxnSpPr/>
          <p:nvPr/>
        </p:nvCxnSpPr>
        <p:spPr>
          <a:xfrm>
            <a:off x="954055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0" name="Conector reto 89"/>
          <p:cNvCxnSpPr/>
          <p:nvPr/>
        </p:nvCxnSpPr>
        <p:spPr>
          <a:xfrm>
            <a:off x="1054866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1" name="Conector reto 90"/>
          <p:cNvCxnSpPr/>
          <p:nvPr/>
        </p:nvCxnSpPr>
        <p:spPr>
          <a:xfrm>
            <a:off x="1062067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2" name="Conector reto 91"/>
          <p:cNvCxnSpPr/>
          <p:nvPr/>
        </p:nvCxnSpPr>
        <p:spPr>
          <a:xfrm>
            <a:off x="1090870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3" name="Conector reto 92"/>
          <p:cNvCxnSpPr/>
          <p:nvPr/>
        </p:nvCxnSpPr>
        <p:spPr>
          <a:xfrm>
            <a:off x="1098071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6" name="CaixaDeTexto 95"/>
          <p:cNvSpPr txBox="1"/>
          <p:nvPr/>
        </p:nvSpPr>
        <p:spPr>
          <a:xfrm>
            <a:off x="7884368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3,5m</a:t>
            </a:r>
            <a:endParaRPr lang="pt-BR" dirty="0"/>
          </a:p>
        </p:txBody>
      </p:sp>
      <p:cxnSp>
        <p:nvCxnSpPr>
          <p:cNvPr id="99" name="Conector reto 98"/>
          <p:cNvCxnSpPr/>
          <p:nvPr/>
        </p:nvCxnSpPr>
        <p:spPr>
          <a:xfrm>
            <a:off x="179512" y="2348880"/>
            <a:ext cx="799288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179512" y="2276872"/>
            <a:ext cx="799288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11" name="Conector reto 110"/>
          <p:cNvCxnSpPr>
            <a:endCxn id="16" idx="0"/>
          </p:cNvCxnSpPr>
          <p:nvPr/>
        </p:nvCxnSpPr>
        <p:spPr>
          <a:xfrm flipH="1">
            <a:off x="2087680" y="5085184"/>
            <a:ext cx="1764240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7" idx="0"/>
          </p:cNvCxnSpPr>
          <p:nvPr/>
        </p:nvCxnSpPr>
        <p:spPr>
          <a:xfrm flipV="1">
            <a:off x="3023784" y="5085184"/>
            <a:ext cx="1404200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18" idx="0"/>
          </p:cNvCxnSpPr>
          <p:nvPr/>
        </p:nvCxnSpPr>
        <p:spPr>
          <a:xfrm flipV="1">
            <a:off x="3959888" y="5085184"/>
            <a:ext cx="972152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/>
          <p:cNvCxnSpPr>
            <a:stCxn id="19" idx="0"/>
          </p:cNvCxnSpPr>
          <p:nvPr/>
        </p:nvCxnSpPr>
        <p:spPr>
          <a:xfrm flipV="1">
            <a:off x="4823984" y="5085184"/>
            <a:ext cx="612112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/>
          <p:cNvCxnSpPr>
            <a:stCxn id="20" idx="0"/>
          </p:cNvCxnSpPr>
          <p:nvPr/>
        </p:nvCxnSpPr>
        <p:spPr>
          <a:xfrm flipV="1">
            <a:off x="5688080" y="5085184"/>
            <a:ext cx="396088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21" idx="0"/>
          </p:cNvCxnSpPr>
          <p:nvPr/>
        </p:nvCxnSpPr>
        <p:spPr>
          <a:xfrm flipV="1">
            <a:off x="6552176" y="5085184"/>
            <a:ext cx="252072" cy="422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ipse 135"/>
          <p:cNvSpPr/>
          <p:nvPr/>
        </p:nvSpPr>
        <p:spPr>
          <a:xfrm>
            <a:off x="3635896" y="2708920"/>
            <a:ext cx="360040" cy="21602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/>
          <p:cNvSpPr txBox="1"/>
          <p:nvPr/>
        </p:nvSpPr>
        <p:spPr>
          <a:xfrm>
            <a:off x="3923928" y="242088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16 x 18AWG</a:t>
            </a:r>
            <a:endParaRPr lang="pt-BR" sz="1000" dirty="0"/>
          </a:p>
        </p:txBody>
      </p:sp>
      <p:cxnSp>
        <p:nvCxnSpPr>
          <p:cNvPr id="162" name="Conector reto 161"/>
          <p:cNvCxnSpPr/>
          <p:nvPr/>
        </p:nvCxnSpPr>
        <p:spPr>
          <a:xfrm>
            <a:off x="7524328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63" name="Conector reto 162"/>
          <p:cNvCxnSpPr/>
          <p:nvPr/>
        </p:nvCxnSpPr>
        <p:spPr>
          <a:xfrm>
            <a:off x="7524328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1" name="Conector reto 180"/>
          <p:cNvCxnSpPr/>
          <p:nvPr/>
        </p:nvCxnSpPr>
        <p:spPr>
          <a:xfrm>
            <a:off x="6228184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2" name="Conector reto 181"/>
          <p:cNvCxnSpPr/>
          <p:nvPr/>
        </p:nvCxnSpPr>
        <p:spPr>
          <a:xfrm>
            <a:off x="6228184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5" name="Conector reto 184"/>
          <p:cNvCxnSpPr/>
          <p:nvPr/>
        </p:nvCxnSpPr>
        <p:spPr>
          <a:xfrm>
            <a:off x="4932040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6" name="Conector reto 185"/>
          <p:cNvCxnSpPr/>
          <p:nvPr/>
        </p:nvCxnSpPr>
        <p:spPr>
          <a:xfrm>
            <a:off x="4932040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9" name="Conector reto 188"/>
          <p:cNvCxnSpPr/>
          <p:nvPr/>
        </p:nvCxnSpPr>
        <p:spPr>
          <a:xfrm>
            <a:off x="3635896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0" name="Conector reto 189"/>
          <p:cNvCxnSpPr/>
          <p:nvPr/>
        </p:nvCxnSpPr>
        <p:spPr>
          <a:xfrm>
            <a:off x="3635896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2" name="Conector reto 191"/>
          <p:cNvCxnSpPr/>
          <p:nvPr/>
        </p:nvCxnSpPr>
        <p:spPr>
          <a:xfrm>
            <a:off x="4067944" y="1340768"/>
            <a:ext cx="288032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3" name="Conector reto 192"/>
          <p:cNvCxnSpPr/>
          <p:nvPr/>
        </p:nvCxnSpPr>
        <p:spPr>
          <a:xfrm>
            <a:off x="2267744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4" name="Conector reto 193"/>
          <p:cNvCxnSpPr/>
          <p:nvPr/>
        </p:nvCxnSpPr>
        <p:spPr>
          <a:xfrm>
            <a:off x="2267744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5" name="Conector reto 194"/>
          <p:cNvCxnSpPr/>
          <p:nvPr/>
        </p:nvCxnSpPr>
        <p:spPr>
          <a:xfrm>
            <a:off x="2555776" y="1268760"/>
            <a:ext cx="43204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6" name="Conector reto 195"/>
          <p:cNvCxnSpPr/>
          <p:nvPr/>
        </p:nvCxnSpPr>
        <p:spPr>
          <a:xfrm>
            <a:off x="2627784" y="1340768"/>
            <a:ext cx="36004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7" name="Conector reto 196"/>
          <p:cNvCxnSpPr/>
          <p:nvPr/>
        </p:nvCxnSpPr>
        <p:spPr>
          <a:xfrm>
            <a:off x="971600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8" name="Conector reto 197"/>
          <p:cNvCxnSpPr/>
          <p:nvPr/>
        </p:nvCxnSpPr>
        <p:spPr>
          <a:xfrm>
            <a:off x="971600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9" name="Conector reto 198"/>
          <p:cNvCxnSpPr/>
          <p:nvPr/>
        </p:nvCxnSpPr>
        <p:spPr>
          <a:xfrm>
            <a:off x="971600" y="1268760"/>
            <a:ext cx="72008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0" name="Conector reto 199"/>
          <p:cNvCxnSpPr/>
          <p:nvPr/>
        </p:nvCxnSpPr>
        <p:spPr>
          <a:xfrm>
            <a:off x="971600" y="1340768"/>
            <a:ext cx="72008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4" name="Conector reto 203"/>
          <p:cNvCxnSpPr/>
          <p:nvPr/>
        </p:nvCxnSpPr>
        <p:spPr>
          <a:xfrm>
            <a:off x="179512" y="1844824"/>
            <a:ext cx="482453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5" name="Conector reto 204"/>
          <p:cNvCxnSpPr/>
          <p:nvPr/>
        </p:nvCxnSpPr>
        <p:spPr>
          <a:xfrm>
            <a:off x="179512" y="1916832"/>
            <a:ext cx="482453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6" name="Conector reto 205"/>
          <p:cNvCxnSpPr/>
          <p:nvPr/>
        </p:nvCxnSpPr>
        <p:spPr>
          <a:xfrm>
            <a:off x="179512" y="2132856"/>
            <a:ext cx="77048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7" name="Conector reto 206"/>
          <p:cNvCxnSpPr/>
          <p:nvPr/>
        </p:nvCxnSpPr>
        <p:spPr>
          <a:xfrm>
            <a:off x="179512" y="2204864"/>
            <a:ext cx="7776864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8" name="Conector reto 207"/>
          <p:cNvCxnSpPr/>
          <p:nvPr/>
        </p:nvCxnSpPr>
        <p:spPr>
          <a:xfrm>
            <a:off x="179512" y="1700808"/>
            <a:ext cx="352839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9" name="Conector reto 208"/>
          <p:cNvCxnSpPr/>
          <p:nvPr/>
        </p:nvCxnSpPr>
        <p:spPr>
          <a:xfrm>
            <a:off x="179512" y="1772816"/>
            <a:ext cx="36004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8" name="Conector reto 217"/>
          <p:cNvCxnSpPr/>
          <p:nvPr/>
        </p:nvCxnSpPr>
        <p:spPr>
          <a:xfrm>
            <a:off x="179512" y="1988840"/>
            <a:ext cx="619268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9" name="Conector reto 218"/>
          <p:cNvCxnSpPr/>
          <p:nvPr/>
        </p:nvCxnSpPr>
        <p:spPr>
          <a:xfrm>
            <a:off x="179512" y="2060848"/>
            <a:ext cx="626469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38" name="Conector reto 237"/>
          <p:cNvCxnSpPr/>
          <p:nvPr/>
        </p:nvCxnSpPr>
        <p:spPr>
          <a:xfrm>
            <a:off x="179512" y="1556792"/>
            <a:ext cx="216024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39" name="Conector reto 238"/>
          <p:cNvCxnSpPr/>
          <p:nvPr/>
        </p:nvCxnSpPr>
        <p:spPr>
          <a:xfrm>
            <a:off x="179512" y="1628800"/>
            <a:ext cx="216024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4" name="Conector angulado 253"/>
          <p:cNvCxnSpPr/>
          <p:nvPr/>
        </p:nvCxnSpPr>
        <p:spPr>
          <a:xfrm rot="5400000">
            <a:off x="2303748" y="1304764"/>
            <a:ext cx="288032" cy="216024"/>
          </a:xfrm>
          <a:prstGeom prst="bentConnector3">
            <a:avLst>
              <a:gd name="adj1" fmla="val 94951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6" name="Conector angulado 255"/>
          <p:cNvCxnSpPr/>
          <p:nvPr/>
        </p:nvCxnSpPr>
        <p:spPr>
          <a:xfrm rot="5400000">
            <a:off x="2339752" y="1340768"/>
            <a:ext cx="288032" cy="288032"/>
          </a:xfrm>
          <a:prstGeom prst="bentConnector3">
            <a:avLst>
              <a:gd name="adj1" fmla="val 92141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9" name="Conector angulado 258"/>
          <p:cNvCxnSpPr/>
          <p:nvPr/>
        </p:nvCxnSpPr>
        <p:spPr>
          <a:xfrm rot="10800000" flipV="1">
            <a:off x="3779912" y="1340768"/>
            <a:ext cx="576064" cy="432048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3" name="Conector angulado 262"/>
          <p:cNvCxnSpPr>
            <a:stCxn id="10" idx="1"/>
          </p:cNvCxnSpPr>
          <p:nvPr/>
        </p:nvCxnSpPr>
        <p:spPr>
          <a:xfrm rot="10800000" flipV="1">
            <a:off x="3707904" y="1268760"/>
            <a:ext cx="612100" cy="43204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6" name="Conector angulado 265"/>
          <p:cNvCxnSpPr/>
          <p:nvPr/>
        </p:nvCxnSpPr>
        <p:spPr>
          <a:xfrm rot="10800000" flipV="1">
            <a:off x="5004048" y="1340768"/>
            <a:ext cx="720080" cy="576064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7" name="Conector angulado 266"/>
          <p:cNvCxnSpPr>
            <a:stCxn id="11" idx="1"/>
          </p:cNvCxnSpPr>
          <p:nvPr/>
        </p:nvCxnSpPr>
        <p:spPr>
          <a:xfrm rot="10800000" flipV="1">
            <a:off x="5004048" y="1268760"/>
            <a:ext cx="624112" cy="576064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72" name="Conector angulado 271"/>
          <p:cNvCxnSpPr/>
          <p:nvPr/>
        </p:nvCxnSpPr>
        <p:spPr>
          <a:xfrm rot="5400000">
            <a:off x="6228184" y="1556792"/>
            <a:ext cx="720080" cy="288032"/>
          </a:xfrm>
          <a:prstGeom prst="bentConnector3">
            <a:avLst>
              <a:gd name="adj1" fmla="val -2817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73" name="Conector angulado 272"/>
          <p:cNvCxnSpPr>
            <a:stCxn id="12" idx="1"/>
          </p:cNvCxnSpPr>
          <p:nvPr/>
        </p:nvCxnSpPr>
        <p:spPr>
          <a:xfrm rot="10800000" flipV="1">
            <a:off x="6372200" y="1268760"/>
            <a:ext cx="564116" cy="720080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84" name="Conector angulado 283"/>
          <p:cNvCxnSpPr/>
          <p:nvPr/>
        </p:nvCxnSpPr>
        <p:spPr>
          <a:xfrm rot="5400000">
            <a:off x="7596336" y="1700808"/>
            <a:ext cx="864096" cy="144016"/>
          </a:xfrm>
          <a:prstGeom prst="bentConnector3">
            <a:avLst>
              <a:gd name="adj1" fmla="val -57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85" name="Conector angulado 284"/>
          <p:cNvCxnSpPr>
            <a:stCxn id="13" idx="1"/>
          </p:cNvCxnSpPr>
          <p:nvPr/>
        </p:nvCxnSpPr>
        <p:spPr>
          <a:xfrm rot="10800000" flipV="1">
            <a:off x="7884368" y="1268760"/>
            <a:ext cx="360104" cy="864096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99" name="Forma 298"/>
          <p:cNvCxnSpPr>
            <a:stCxn id="5" idx="0"/>
            <a:endCxn id="7" idx="1"/>
          </p:cNvCxnSpPr>
          <p:nvPr/>
        </p:nvCxnSpPr>
        <p:spPr>
          <a:xfrm rot="16200000" flipV="1">
            <a:off x="1205626" y="458670"/>
            <a:ext cx="1800200" cy="3420380"/>
          </a:xfrm>
          <a:prstGeom prst="bentConnector4">
            <a:avLst>
              <a:gd name="adj1" fmla="val 15681"/>
              <a:gd name="adj2" fmla="val 106683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ector de seta reta 301"/>
          <p:cNvCxnSpPr>
            <a:stCxn id="136" idx="7"/>
            <a:endCxn id="137" idx="2"/>
          </p:cNvCxnSpPr>
          <p:nvPr/>
        </p:nvCxnSpPr>
        <p:spPr>
          <a:xfrm flipV="1">
            <a:off x="3943209" y="2667109"/>
            <a:ext cx="395256" cy="734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to 318"/>
          <p:cNvCxnSpPr/>
          <p:nvPr/>
        </p:nvCxnSpPr>
        <p:spPr>
          <a:xfrm rot="5400000">
            <a:off x="8172400" y="184482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1" name="Conector reto 320"/>
          <p:cNvCxnSpPr/>
          <p:nvPr/>
        </p:nvCxnSpPr>
        <p:spPr>
          <a:xfrm rot="5400000">
            <a:off x="8244408" y="1844824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8" name="Conector angulado 327"/>
          <p:cNvCxnSpPr/>
          <p:nvPr/>
        </p:nvCxnSpPr>
        <p:spPr>
          <a:xfrm rot="16200000" flipH="1">
            <a:off x="2087724" y="3681028"/>
            <a:ext cx="792088" cy="576064"/>
          </a:xfrm>
          <a:prstGeom prst="bentConnector3">
            <a:avLst>
              <a:gd name="adj1" fmla="val 99037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31" name="Conector angulado 284"/>
          <p:cNvCxnSpPr/>
          <p:nvPr/>
        </p:nvCxnSpPr>
        <p:spPr>
          <a:xfrm rot="16200000" flipH="1">
            <a:off x="2159732" y="3609020"/>
            <a:ext cx="720080" cy="504056"/>
          </a:xfrm>
          <a:prstGeom prst="bentConnector3">
            <a:avLst>
              <a:gd name="adj1" fmla="val 99446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50" name="Retângulo 349"/>
          <p:cNvSpPr/>
          <p:nvPr/>
        </p:nvSpPr>
        <p:spPr>
          <a:xfrm>
            <a:off x="-1044624" y="6350169"/>
            <a:ext cx="1051316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 smtClean="0"/>
              <a:t>https://loja.conduscamp.com.br/cabo-aft-20x18-awg-blindado-em-malha-de-cobre-estanhado-preto-1/p?sku=6307910&amp;utm_source=google&amp;utm_medium=cpc&amp;utm_campaign=ecom_pmax_caboaft&amp;utm_term=&amp;gad_source=1&amp;gad_campaignid=21523427216&amp;gbraid=0AAAAADldM60W3hLKf9jFNMKc8HP-AeRXg&amp;gclid=CjwKCAjwzLHPBhBTEiwABaLsSvx7KSgKrEw8Ny61dZfiY2_fKLD8O9ZB-Yymh9z102_6xORP-DFP2BoCsxsQAvD_BwE</a:t>
            </a:r>
            <a:endParaRPr lang="pt-BR" sz="900" dirty="0"/>
          </a:p>
        </p:txBody>
      </p:sp>
      <p:cxnSp>
        <p:nvCxnSpPr>
          <p:cNvPr id="112" name="Conector angulado 111"/>
          <p:cNvCxnSpPr/>
          <p:nvPr/>
        </p:nvCxnSpPr>
        <p:spPr>
          <a:xfrm rot="16200000" flipH="1">
            <a:off x="1835696" y="3645024"/>
            <a:ext cx="1152128" cy="720080"/>
          </a:xfrm>
          <a:prstGeom prst="bentConnector3">
            <a:avLst>
              <a:gd name="adj1" fmla="val 984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26" name="Conector angulado 125"/>
          <p:cNvCxnSpPr/>
          <p:nvPr/>
        </p:nvCxnSpPr>
        <p:spPr>
          <a:xfrm rot="16200000" flipH="1">
            <a:off x="1583668" y="3537012"/>
            <a:ext cx="1368152" cy="1008112"/>
          </a:xfrm>
          <a:prstGeom prst="bentConnector3">
            <a:avLst>
              <a:gd name="adj1" fmla="val 9731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1" name="Retângulo de cantos arredondados 130"/>
          <p:cNvSpPr/>
          <p:nvPr/>
        </p:nvSpPr>
        <p:spPr>
          <a:xfrm>
            <a:off x="8244472" y="2060848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8</a:t>
            </a:r>
            <a:endParaRPr lang="pt-BR" sz="1000" dirty="0"/>
          </a:p>
        </p:txBody>
      </p:sp>
      <p:cxnSp>
        <p:nvCxnSpPr>
          <p:cNvPr id="134" name="Forma 133"/>
          <p:cNvCxnSpPr>
            <a:endCxn id="14" idx="2"/>
          </p:cNvCxnSpPr>
          <p:nvPr/>
        </p:nvCxnSpPr>
        <p:spPr>
          <a:xfrm rot="10800000">
            <a:off x="3815916" y="4869160"/>
            <a:ext cx="4500500" cy="216024"/>
          </a:xfrm>
          <a:prstGeom prst="bentConnector2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tângulo de cantos arredondados 138"/>
          <p:cNvSpPr/>
          <p:nvPr/>
        </p:nvSpPr>
        <p:spPr>
          <a:xfrm>
            <a:off x="8028384" y="5517232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16</a:t>
            </a:r>
            <a:endParaRPr lang="pt-BR" sz="1200" dirty="0"/>
          </a:p>
        </p:txBody>
      </p:sp>
      <p:cxnSp>
        <p:nvCxnSpPr>
          <p:cNvPr id="150" name="Conector reto 149"/>
          <p:cNvCxnSpPr>
            <a:stCxn id="15" idx="0"/>
          </p:cNvCxnSpPr>
          <p:nvPr/>
        </p:nvCxnSpPr>
        <p:spPr>
          <a:xfrm flipH="1" flipV="1">
            <a:off x="7380312" y="5085184"/>
            <a:ext cx="107968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/>
          <p:cNvCxnSpPr>
            <a:stCxn id="139" idx="0"/>
          </p:cNvCxnSpPr>
          <p:nvPr/>
        </p:nvCxnSpPr>
        <p:spPr>
          <a:xfrm flipH="1" flipV="1">
            <a:off x="8316416" y="5085184"/>
            <a:ext cx="107968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imagem mostra um cabo elétrico preto com 20 vias internas, com blindagem. As duas vias são feitas de cobre estanhado, e cada uma coberta por uma camada de isolamento colorida com cores diferente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348880"/>
            <a:ext cx="792088" cy="792088"/>
          </a:xfrm>
          <a:prstGeom prst="rect">
            <a:avLst/>
          </a:prstGeom>
          <a:noFill/>
        </p:spPr>
      </p:pic>
      <p:sp>
        <p:nvSpPr>
          <p:cNvPr id="4" name="Retângulo 3"/>
          <p:cNvSpPr/>
          <p:nvPr/>
        </p:nvSpPr>
        <p:spPr>
          <a:xfrm>
            <a:off x="611560" y="3212976"/>
            <a:ext cx="1008112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Lilygo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843808" y="3068960"/>
            <a:ext cx="1944216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 i2c </a:t>
            </a:r>
          </a:p>
          <a:p>
            <a:pPr algn="ctr"/>
            <a:r>
              <a:rPr lang="pt-BR" dirty="0" smtClean="0"/>
              <a:t>8 canais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395536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1</a:t>
            </a:r>
            <a:endParaRPr lang="pt-BR" sz="1000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703692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2</a:t>
            </a:r>
            <a:endParaRPr lang="pt-BR" sz="10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011848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3</a:t>
            </a:r>
            <a:endParaRPr lang="pt-BR" sz="1000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4320004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4</a:t>
            </a:r>
            <a:endParaRPr lang="pt-BR" sz="10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28160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5</a:t>
            </a:r>
            <a:endParaRPr lang="pt-BR" sz="1000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936316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6</a:t>
            </a:r>
            <a:endParaRPr lang="pt-BR" sz="10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4472" y="1052736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7</a:t>
            </a:r>
            <a:endParaRPr lang="pt-BR" sz="1000" dirty="0"/>
          </a:p>
        </p:txBody>
      </p:sp>
      <p:sp>
        <p:nvSpPr>
          <p:cNvPr id="14" name="Retângulo 13"/>
          <p:cNvSpPr/>
          <p:nvPr/>
        </p:nvSpPr>
        <p:spPr>
          <a:xfrm>
            <a:off x="6156176" y="3104964"/>
            <a:ext cx="2088232" cy="7920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</a:t>
            </a:r>
            <a:endParaRPr lang="pt-BR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0517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8</a:t>
            </a:r>
            <a:endParaRPr lang="pt-BR" sz="1200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915816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9</a:t>
            </a:r>
            <a:endParaRPr lang="pt-BR" sz="1200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8519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10</a:t>
            </a:r>
            <a:endParaRPr lang="pt-BR" sz="1200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4788024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11</a:t>
            </a:r>
            <a:endParaRPr lang="pt-BR" sz="1200" dirty="0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5652120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12</a:t>
            </a:r>
            <a:endParaRPr lang="pt-BR" sz="1200" dirty="0"/>
          </a:p>
        </p:txBody>
      </p:sp>
      <p:sp>
        <p:nvSpPr>
          <p:cNvPr id="20" name="Retângulo de cantos arredondados 19"/>
          <p:cNvSpPr/>
          <p:nvPr/>
        </p:nvSpPr>
        <p:spPr>
          <a:xfrm>
            <a:off x="6516216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13</a:t>
            </a:r>
            <a:endParaRPr lang="pt-BR" sz="1200" dirty="0"/>
          </a:p>
        </p:txBody>
      </p:sp>
      <p:sp>
        <p:nvSpPr>
          <p:cNvPr id="21" name="Retângulo de cantos arredondados 20"/>
          <p:cNvSpPr/>
          <p:nvPr/>
        </p:nvSpPr>
        <p:spPr>
          <a:xfrm>
            <a:off x="7380312" y="5085184"/>
            <a:ext cx="792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Sensor 14</a:t>
            </a:r>
            <a:endParaRPr lang="pt-BR" sz="12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971600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2195736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3275856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4427984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5508104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6804248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2051720" y="364502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7" name="CaixaDeTexto 66"/>
          <p:cNvSpPr txBox="1"/>
          <p:nvPr/>
        </p:nvSpPr>
        <p:spPr>
          <a:xfrm>
            <a:off x="2195736" y="566124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8" name="CaixaDeTexto 67"/>
          <p:cNvSpPr txBox="1"/>
          <p:nvPr/>
        </p:nvSpPr>
        <p:spPr>
          <a:xfrm>
            <a:off x="3131840" y="566124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4067944" y="566124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4932040" y="566124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5868144" y="566124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6732240" y="566124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cxnSp>
        <p:nvCxnSpPr>
          <p:cNvPr id="51" name="Conector reto 50"/>
          <p:cNvCxnSpPr/>
          <p:nvPr/>
        </p:nvCxnSpPr>
        <p:spPr>
          <a:xfrm>
            <a:off x="1619672" y="3356992"/>
            <a:ext cx="1512168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1619672" y="3429000"/>
            <a:ext cx="1512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5" name="Conector reto 54"/>
          <p:cNvCxnSpPr/>
          <p:nvPr/>
        </p:nvCxnSpPr>
        <p:spPr>
          <a:xfrm>
            <a:off x="1619672" y="3501008"/>
            <a:ext cx="151216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7" name="Conector reto 56"/>
          <p:cNvCxnSpPr/>
          <p:nvPr/>
        </p:nvCxnSpPr>
        <p:spPr>
          <a:xfrm>
            <a:off x="1619672" y="3573016"/>
            <a:ext cx="151216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982858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3" name="Conector reto 82"/>
          <p:cNvCxnSpPr/>
          <p:nvPr/>
        </p:nvCxnSpPr>
        <p:spPr>
          <a:xfrm>
            <a:off x="990059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6" name="Conector reto 85"/>
          <p:cNvCxnSpPr/>
          <p:nvPr/>
        </p:nvCxnSpPr>
        <p:spPr>
          <a:xfrm>
            <a:off x="1018862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7" name="Conector reto 86"/>
          <p:cNvCxnSpPr/>
          <p:nvPr/>
        </p:nvCxnSpPr>
        <p:spPr>
          <a:xfrm>
            <a:off x="1026063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8" name="Conector reto 87"/>
          <p:cNvCxnSpPr/>
          <p:nvPr/>
        </p:nvCxnSpPr>
        <p:spPr>
          <a:xfrm>
            <a:off x="946854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9" name="Conector reto 88"/>
          <p:cNvCxnSpPr/>
          <p:nvPr/>
        </p:nvCxnSpPr>
        <p:spPr>
          <a:xfrm>
            <a:off x="954055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0" name="Conector reto 89"/>
          <p:cNvCxnSpPr/>
          <p:nvPr/>
        </p:nvCxnSpPr>
        <p:spPr>
          <a:xfrm>
            <a:off x="1054866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1" name="Conector reto 90"/>
          <p:cNvCxnSpPr/>
          <p:nvPr/>
        </p:nvCxnSpPr>
        <p:spPr>
          <a:xfrm>
            <a:off x="1062067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2" name="Conector reto 91"/>
          <p:cNvCxnSpPr/>
          <p:nvPr/>
        </p:nvCxnSpPr>
        <p:spPr>
          <a:xfrm>
            <a:off x="1090870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3" name="Conector reto 92"/>
          <p:cNvCxnSpPr/>
          <p:nvPr/>
        </p:nvCxnSpPr>
        <p:spPr>
          <a:xfrm>
            <a:off x="1098071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6" name="CaixaDeTexto 95"/>
          <p:cNvSpPr txBox="1"/>
          <p:nvPr/>
        </p:nvSpPr>
        <p:spPr>
          <a:xfrm>
            <a:off x="7884368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3,5m</a:t>
            </a:r>
            <a:endParaRPr lang="pt-BR" dirty="0"/>
          </a:p>
        </p:txBody>
      </p:sp>
      <p:cxnSp>
        <p:nvCxnSpPr>
          <p:cNvPr id="99" name="Conector reto 98"/>
          <p:cNvCxnSpPr/>
          <p:nvPr/>
        </p:nvCxnSpPr>
        <p:spPr>
          <a:xfrm>
            <a:off x="179512" y="2348880"/>
            <a:ext cx="536459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179512" y="2276872"/>
            <a:ext cx="547260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9" name="Conector reto 108"/>
          <p:cNvCxnSpPr>
            <a:endCxn id="15" idx="0"/>
          </p:cNvCxnSpPr>
          <p:nvPr/>
        </p:nvCxnSpPr>
        <p:spPr>
          <a:xfrm flipH="1">
            <a:off x="2447720" y="3933056"/>
            <a:ext cx="392448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>
            <a:endCxn id="16" idx="0"/>
          </p:cNvCxnSpPr>
          <p:nvPr/>
        </p:nvCxnSpPr>
        <p:spPr>
          <a:xfrm flipH="1">
            <a:off x="3311816" y="3933056"/>
            <a:ext cx="3420424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7" idx="0"/>
          </p:cNvCxnSpPr>
          <p:nvPr/>
        </p:nvCxnSpPr>
        <p:spPr>
          <a:xfrm flipV="1">
            <a:off x="4247920" y="3933056"/>
            <a:ext cx="2772352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18" idx="0"/>
          </p:cNvCxnSpPr>
          <p:nvPr/>
        </p:nvCxnSpPr>
        <p:spPr>
          <a:xfrm flipV="1">
            <a:off x="5184024" y="3933056"/>
            <a:ext cx="212428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/>
          <p:cNvCxnSpPr>
            <a:stCxn id="19" idx="0"/>
          </p:cNvCxnSpPr>
          <p:nvPr/>
        </p:nvCxnSpPr>
        <p:spPr>
          <a:xfrm flipV="1">
            <a:off x="6048120" y="3933056"/>
            <a:ext cx="1548216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/>
          <p:cNvCxnSpPr>
            <a:stCxn id="20" idx="0"/>
          </p:cNvCxnSpPr>
          <p:nvPr/>
        </p:nvCxnSpPr>
        <p:spPr>
          <a:xfrm flipV="1">
            <a:off x="6912216" y="3933056"/>
            <a:ext cx="900144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21" idx="0"/>
          </p:cNvCxnSpPr>
          <p:nvPr/>
        </p:nvCxnSpPr>
        <p:spPr>
          <a:xfrm flipV="1">
            <a:off x="7776312" y="3933056"/>
            <a:ext cx="252072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ipse 135"/>
          <p:cNvSpPr/>
          <p:nvPr/>
        </p:nvSpPr>
        <p:spPr>
          <a:xfrm>
            <a:off x="3635896" y="2708920"/>
            <a:ext cx="360040" cy="21602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/>
          <p:cNvSpPr txBox="1"/>
          <p:nvPr/>
        </p:nvSpPr>
        <p:spPr>
          <a:xfrm>
            <a:off x="3923928" y="242088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16 x 18AWG</a:t>
            </a:r>
            <a:endParaRPr lang="pt-BR" sz="1000" dirty="0"/>
          </a:p>
        </p:txBody>
      </p:sp>
      <p:cxnSp>
        <p:nvCxnSpPr>
          <p:cNvPr id="162" name="Conector reto 161"/>
          <p:cNvCxnSpPr/>
          <p:nvPr/>
        </p:nvCxnSpPr>
        <p:spPr>
          <a:xfrm>
            <a:off x="7524328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63" name="Conector reto 162"/>
          <p:cNvCxnSpPr/>
          <p:nvPr/>
        </p:nvCxnSpPr>
        <p:spPr>
          <a:xfrm>
            <a:off x="7524328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1" name="Conector reto 180"/>
          <p:cNvCxnSpPr/>
          <p:nvPr/>
        </p:nvCxnSpPr>
        <p:spPr>
          <a:xfrm>
            <a:off x="6228184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2" name="Conector reto 181"/>
          <p:cNvCxnSpPr/>
          <p:nvPr/>
        </p:nvCxnSpPr>
        <p:spPr>
          <a:xfrm>
            <a:off x="6228184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5" name="Conector reto 184"/>
          <p:cNvCxnSpPr/>
          <p:nvPr/>
        </p:nvCxnSpPr>
        <p:spPr>
          <a:xfrm>
            <a:off x="4932040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6" name="Conector reto 185"/>
          <p:cNvCxnSpPr/>
          <p:nvPr/>
        </p:nvCxnSpPr>
        <p:spPr>
          <a:xfrm>
            <a:off x="4932040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9" name="Conector reto 188"/>
          <p:cNvCxnSpPr/>
          <p:nvPr/>
        </p:nvCxnSpPr>
        <p:spPr>
          <a:xfrm>
            <a:off x="3635896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0" name="Conector reto 189"/>
          <p:cNvCxnSpPr/>
          <p:nvPr/>
        </p:nvCxnSpPr>
        <p:spPr>
          <a:xfrm>
            <a:off x="3635896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2" name="Conector reto 191"/>
          <p:cNvCxnSpPr/>
          <p:nvPr/>
        </p:nvCxnSpPr>
        <p:spPr>
          <a:xfrm>
            <a:off x="4067944" y="1340768"/>
            <a:ext cx="288032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3" name="Conector reto 192"/>
          <p:cNvCxnSpPr/>
          <p:nvPr/>
        </p:nvCxnSpPr>
        <p:spPr>
          <a:xfrm>
            <a:off x="2267744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4" name="Conector reto 193"/>
          <p:cNvCxnSpPr/>
          <p:nvPr/>
        </p:nvCxnSpPr>
        <p:spPr>
          <a:xfrm>
            <a:off x="2267744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5" name="Conector reto 194"/>
          <p:cNvCxnSpPr/>
          <p:nvPr/>
        </p:nvCxnSpPr>
        <p:spPr>
          <a:xfrm>
            <a:off x="2555776" y="1268760"/>
            <a:ext cx="43204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6" name="Conector reto 195"/>
          <p:cNvCxnSpPr/>
          <p:nvPr/>
        </p:nvCxnSpPr>
        <p:spPr>
          <a:xfrm>
            <a:off x="2627784" y="1340768"/>
            <a:ext cx="36004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7" name="Conector reto 196"/>
          <p:cNvCxnSpPr/>
          <p:nvPr/>
        </p:nvCxnSpPr>
        <p:spPr>
          <a:xfrm>
            <a:off x="971600" y="112474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8" name="Conector reto 197"/>
          <p:cNvCxnSpPr/>
          <p:nvPr/>
        </p:nvCxnSpPr>
        <p:spPr>
          <a:xfrm>
            <a:off x="971600" y="1196752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9" name="Conector reto 198"/>
          <p:cNvCxnSpPr/>
          <p:nvPr/>
        </p:nvCxnSpPr>
        <p:spPr>
          <a:xfrm>
            <a:off x="971600" y="1268760"/>
            <a:ext cx="72008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0" name="Conector reto 199"/>
          <p:cNvCxnSpPr/>
          <p:nvPr/>
        </p:nvCxnSpPr>
        <p:spPr>
          <a:xfrm>
            <a:off x="971600" y="1340768"/>
            <a:ext cx="72008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4" name="Conector reto 203"/>
          <p:cNvCxnSpPr/>
          <p:nvPr/>
        </p:nvCxnSpPr>
        <p:spPr>
          <a:xfrm>
            <a:off x="179512" y="1844824"/>
            <a:ext cx="482453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5" name="Conector reto 204"/>
          <p:cNvCxnSpPr/>
          <p:nvPr/>
        </p:nvCxnSpPr>
        <p:spPr>
          <a:xfrm>
            <a:off x="179512" y="1916832"/>
            <a:ext cx="482453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6" name="Conector reto 205"/>
          <p:cNvCxnSpPr/>
          <p:nvPr/>
        </p:nvCxnSpPr>
        <p:spPr>
          <a:xfrm>
            <a:off x="179512" y="2132856"/>
            <a:ext cx="77048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7" name="Conector reto 206"/>
          <p:cNvCxnSpPr/>
          <p:nvPr/>
        </p:nvCxnSpPr>
        <p:spPr>
          <a:xfrm>
            <a:off x="179512" y="2204864"/>
            <a:ext cx="7776864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8" name="Conector reto 207"/>
          <p:cNvCxnSpPr/>
          <p:nvPr/>
        </p:nvCxnSpPr>
        <p:spPr>
          <a:xfrm>
            <a:off x="179512" y="1700808"/>
            <a:ext cx="352839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9" name="Conector reto 208"/>
          <p:cNvCxnSpPr/>
          <p:nvPr/>
        </p:nvCxnSpPr>
        <p:spPr>
          <a:xfrm>
            <a:off x="179512" y="1772816"/>
            <a:ext cx="36004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8" name="Conector reto 217"/>
          <p:cNvCxnSpPr/>
          <p:nvPr/>
        </p:nvCxnSpPr>
        <p:spPr>
          <a:xfrm>
            <a:off x="179512" y="1988840"/>
            <a:ext cx="619268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9" name="Conector reto 218"/>
          <p:cNvCxnSpPr/>
          <p:nvPr/>
        </p:nvCxnSpPr>
        <p:spPr>
          <a:xfrm>
            <a:off x="179512" y="2060848"/>
            <a:ext cx="626469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38" name="Conector reto 237"/>
          <p:cNvCxnSpPr/>
          <p:nvPr/>
        </p:nvCxnSpPr>
        <p:spPr>
          <a:xfrm>
            <a:off x="179512" y="1556792"/>
            <a:ext cx="216024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39" name="Conector reto 238"/>
          <p:cNvCxnSpPr/>
          <p:nvPr/>
        </p:nvCxnSpPr>
        <p:spPr>
          <a:xfrm>
            <a:off x="179512" y="1628800"/>
            <a:ext cx="216024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4" name="Conector angulado 253"/>
          <p:cNvCxnSpPr/>
          <p:nvPr/>
        </p:nvCxnSpPr>
        <p:spPr>
          <a:xfrm rot="5400000">
            <a:off x="2303748" y="1304764"/>
            <a:ext cx="288032" cy="216024"/>
          </a:xfrm>
          <a:prstGeom prst="bentConnector3">
            <a:avLst>
              <a:gd name="adj1" fmla="val 94951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6" name="Conector angulado 255"/>
          <p:cNvCxnSpPr/>
          <p:nvPr/>
        </p:nvCxnSpPr>
        <p:spPr>
          <a:xfrm rot="5400000">
            <a:off x="2339752" y="1340768"/>
            <a:ext cx="288032" cy="288032"/>
          </a:xfrm>
          <a:prstGeom prst="bentConnector3">
            <a:avLst>
              <a:gd name="adj1" fmla="val 92141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59" name="Conector angulado 258"/>
          <p:cNvCxnSpPr/>
          <p:nvPr/>
        </p:nvCxnSpPr>
        <p:spPr>
          <a:xfrm rot="10800000" flipV="1">
            <a:off x="3779912" y="1340768"/>
            <a:ext cx="576064" cy="432048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3" name="Conector angulado 262"/>
          <p:cNvCxnSpPr>
            <a:stCxn id="10" idx="1"/>
          </p:cNvCxnSpPr>
          <p:nvPr/>
        </p:nvCxnSpPr>
        <p:spPr>
          <a:xfrm rot="10800000" flipV="1">
            <a:off x="3707904" y="1268760"/>
            <a:ext cx="612100" cy="43204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6" name="Conector angulado 265"/>
          <p:cNvCxnSpPr/>
          <p:nvPr/>
        </p:nvCxnSpPr>
        <p:spPr>
          <a:xfrm rot="10800000" flipV="1">
            <a:off x="5004048" y="1340768"/>
            <a:ext cx="720080" cy="576064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67" name="Conector angulado 266"/>
          <p:cNvCxnSpPr>
            <a:stCxn id="11" idx="1"/>
          </p:cNvCxnSpPr>
          <p:nvPr/>
        </p:nvCxnSpPr>
        <p:spPr>
          <a:xfrm rot="10800000" flipV="1">
            <a:off x="5004048" y="1268760"/>
            <a:ext cx="624112" cy="576064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72" name="Conector angulado 271"/>
          <p:cNvCxnSpPr/>
          <p:nvPr/>
        </p:nvCxnSpPr>
        <p:spPr>
          <a:xfrm rot="5400000">
            <a:off x="6228184" y="1556792"/>
            <a:ext cx="720080" cy="288032"/>
          </a:xfrm>
          <a:prstGeom prst="bentConnector3">
            <a:avLst>
              <a:gd name="adj1" fmla="val -2817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73" name="Conector angulado 272"/>
          <p:cNvCxnSpPr>
            <a:stCxn id="12" idx="1"/>
          </p:cNvCxnSpPr>
          <p:nvPr/>
        </p:nvCxnSpPr>
        <p:spPr>
          <a:xfrm rot="10800000" flipV="1">
            <a:off x="6372200" y="1268760"/>
            <a:ext cx="564116" cy="720080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84" name="Conector angulado 283"/>
          <p:cNvCxnSpPr/>
          <p:nvPr/>
        </p:nvCxnSpPr>
        <p:spPr>
          <a:xfrm rot="5400000">
            <a:off x="7596336" y="1700808"/>
            <a:ext cx="864096" cy="144016"/>
          </a:xfrm>
          <a:prstGeom prst="bentConnector3">
            <a:avLst>
              <a:gd name="adj1" fmla="val -57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85" name="Conector angulado 284"/>
          <p:cNvCxnSpPr>
            <a:stCxn id="13" idx="1"/>
          </p:cNvCxnSpPr>
          <p:nvPr/>
        </p:nvCxnSpPr>
        <p:spPr>
          <a:xfrm rot="10800000" flipV="1">
            <a:off x="7884368" y="1268760"/>
            <a:ext cx="360104" cy="864096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99" name="Forma 298"/>
          <p:cNvCxnSpPr>
            <a:stCxn id="5" idx="0"/>
            <a:endCxn id="7" idx="1"/>
          </p:cNvCxnSpPr>
          <p:nvPr/>
        </p:nvCxnSpPr>
        <p:spPr>
          <a:xfrm rot="16200000" flipV="1">
            <a:off x="1205626" y="458670"/>
            <a:ext cx="1800200" cy="3420380"/>
          </a:xfrm>
          <a:prstGeom prst="bentConnector4">
            <a:avLst>
              <a:gd name="adj1" fmla="val 15681"/>
              <a:gd name="adj2" fmla="val 106683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ector de seta reta 301"/>
          <p:cNvCxnSpPr>
            <a:stCxn id="136" idx="7"/>
            <a:endCxn id="137" idx="2"/>
          </p:cNvCxnSpPr>
          <p:nvPr/>
        </p:nvCxnSpPr>
        <p:spPr>
          <a:xfrm flipV="1">
            <a:off x="3943209" y="2667109"/>
            <a:ext cx="395256" cy="734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to 318"/>
          <p:cNvCxnSpPr/>
          <p:nvPr/>
        </p:nvCxnSpPr>
        <p:spPr>
          <a:xfrm rot="5400000">
            <a:off x="8172400" y="1844824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1" name="Conector reto 320"/>
          <p:cNvCxnSpPr/>
          <p:nvPr/>
        </p:nvCxnSpPr>
        <p:spPr>
          <a:xfrm rot="5400000">
            <a:off x="8244408" y="1844824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3" name="Forma 322"/>
          <p:cNvCxnSpPr>
            <a:endCxn id="14" idx="3"/>
          </p:cNvCxnSpPr>
          <p:nvPr/>
        </p:nvCxnSpPr>
        <p:spPr>
          <a:xfrm rot="5400000">
            <a:off x="7776356" y="2672916"/>
            <a:ext cx="1296144" cy="36004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5" name="Forma 324"/>
          <p:cNvCxnSpPr/>
          <p:nvPr/>
        </p:nvCxnSpPr>
        <p:spPr>
          <a:xfrm rot="5400000">
            <a:off x="7812360" y="2708920"/>
            <a:ext cx="1224136" cy="216024"/>
          </a:xfrm>
          <a:prstGeom prst="bentConnector3">
            <a:avLst>
              <a:gd name="adj1" fmla="val 1009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28" name="Conector angulado 327"/>
          <p:cNvCxnSpPr/>
          <p:nvPr/>
        </p:nvCxnSpPr>
        <p:spPr>
          <a:xfrm rot="16200000" flipH="1">
            <a:off x="5364088" y="2564904"/>
            <a:ext cx="1080120" cy="504056"/>
          </a:xfrm>
          <a:prstGeom prst="bentConnector3">
            <a:avLst>
              <a:gd name="adj1" fmla="val 101693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31" name="Conector angulado 284"/>
          <p:cNvCxnSpPr>
            <a:endCxn id="14" idx="1"/>
          </p:cNvCxnSpPr>
          <p:nvPr/>
        </p:nvCxnSpPr>
        <p:spPr>
          <a:xfrm rot="16200000" flipH="1">
            <a:off x="5292080" y="2636912"/>
            <a:ext cx="1152128" cy="576064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50" name="Retângulo 349"/>
          <p:cNvSpPr/>
          <p:nvPr/>
        </p:nvSpPr>
        <p:spPr>
          <a:xfrm>
            <a:off x="-1044624" y="6350169"/>
            <a:ext cx="1051316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 smtClean="0"/>
              <a:t>https://loja.conduscamp.com.br/cabo-aft-20x18-awg-blindado-em-malha-de-cobre-estanhado-preto-1/p?sku=6307910&amp;utm_source=google&amp;utm_medium=cpc&amp;utm_campaign=ecom_pmax_caboaft&amp;utm_term=&amp;gad_source=1&amp;gad_campaignid=21523427216&amp;gbraid=0AAAAADldM60W3hLKf9jFNMKc8HP-AeRXg&amp;gclid=CjwKCAjwzLHPBhBTEiwABaLsSvx7KSgKrEw8Ny61dZfiY2_fKLD8O9ZB-Yymh9z102_6xORP-DFP2BoCsxsQAvD_BwE</a:t>
            </a:r>
            <a:endParaRPr lang="pt-BR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1560" y="3212976"/>
            <a:ext cx="1008112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Lilygo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987824" y="3068960"/>
            <a:ext cx="1584176" cy="12241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Multiplex </a:t>
            </a:r>
          </a:p>
          <a:p>
            <a:pPr algn="ctr"/>
            <a:r>
              <a:rPr lang="pt-BR" dirty="0" smtClean="0"/>
              <a:t>16 canais</a:t>
            </a:r>
          </a:p>
          <a:p>
            <a:pPr algn="ctr"/>
            <a:r>
              <a:rPr lang="pt-BR" dirty="0" smtClean="0"/>
              <a:t>CD74HC4067</a:t>
            </a:r>
          </a:p>
          <a:p>
            <a:pPr algn="ctr"/>
            <a:endParaRPr lang="pt-BR" dirty="0" smtClean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395536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1</a:t>
            </a:r>
            <a:endParaRPr lang="pt-BR" sz="1000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703692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2</a:t>
            </a:r>
            <a:endParaRPr lang="pt-BR" sz="10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011848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3</a:t>
            </a:r>
            <a:endParaRPr lang="pt-BR" sz="1000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4320004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4</a:t>
            </a:r>
            <a:endParaRPr lang="pt-BR" sz="10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28160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5</a:t>
            </a:r>
            <a:endParaRPr lang="pt-BR" sz="1000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936316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6</a:t>
            </a:r>
            <a:endParaRPr lang="pt-BR" sz="10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4472" y="1484784"/>
            <a:ext cx="576000" cy="4320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Sensor 7</a:t>
            </a:r>
            <a:endParaRPr lang="pt-BR" sz="10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971600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0,5m</a:t>
            </a:r>
            <a:endParaRPr lang="pt-BR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2195736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1m</a:t>
            </a:r>
            <a:endParaRPr lang="pt-BR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3275856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1,5m</a:t>
            </a:r>
            <a:endParaRPr lang="pt-BR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4427984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2m</a:t>
            </a:r>
            <a:endParaRPr lang="pt-BR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5508104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2,5m</a:t>
            </a:r>
            <a:endParaRPr lang="pt-BR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6804248" y="54868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2051720" y="364502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3m</a:t>
            </a:r>
            <a:endParaRPr lang="pt-BR" dirty="0"/>
          </a:p>
        </p:txBody>
      </p:sp>
      <p:cxnSp>
        <p:nvCxnSpPr>
          <p:cNvPr id="51" name="Conector reto 50"/>
          <p:cNvCxnSpPr/>
          <p:nvPr/>
        </p:nvCxnSpPr>
        <p:spPr>
          <a:xfrm>
            <a:off x="1619672" y="3356992"/>
            <a:ext cx="1512168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1619672" y="3429000"/>
            <a:ext cx="1512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5" name="Conector reto 54"/>
          <p:cNvCxnSpPr/>
          <p:nvPr/>
        </p:nvCxnSpPr>
        <p:spPr>
          <a:xfrm>
            <a:off x="1619672" y="3501008"/>
            <a:ext cx="151216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7" name="Conector reto 56"/>
          <p:cNvCxnSpPr/>
          <p:nvPr/>
        </p:nvCxnSpPr>
        <p:spPr>
          <a:xfrm>
            <a:off x="1619672" y="3573016"/>
            <a:ext cx="151216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982858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3" name="Conector reto 82"/>
          <p:cNvCxnSpPr/>
          <p:nvPr/>
        </p:nvCxnSpPr>
        <p:spPr>
          <a:xfrm>
            <a:off x="990059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6" name="Conector reto 85"/>
          <p:cNvCxnSpPr/>
          <p:nvPr/>
        </p:nvCxnSpPr>
        <p:spPr>
          <a:xfrm>
            <a:off x="1018862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7" name="Conector reto 86"/>
          <p:cNvCxnSpPr/>
          <p:nvPr/>
        </p:nvCxnSpPr>
        <p:spPr>
          <a:xfrm>
            <a:off x="1026063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0" name="Conector reto 89"/>
          <p:cNvCxnSpPr/>
          <p:nvPr/>
        </p:nvCxnSpPr>
        <p:spPr>
          <a:xfrm>
            <a:off x="1054866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1" name="Conector reto 90"/>
          <p:cNvCxnSpPr/>
          <p:nvPr/>
        </p:nvCxnSpPr>
        <p:spPr>
          <a:xfrm>
            <a:off x="1062067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2" name="Conector reto 91"/>
          <p:cNvCxnSpPr/>
          <p:nvPr/>
        </p:nvCxnSpPr>
        <p:spPr>
          <a:xfrm>
            <a:off x="10908704" y="4293096"/>
            <a:ext cx="0" cy="136815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3" name="Conector reto 92"/>
          <p:cNvCxnSpPr/>
          <p:nvPr/>
        </p:nvCxnSpPr>
        <p:spPr>
          <a:xfrm>
            <a:off x="10980712" y="4293096"/>
            <a:ext cx="0" cy="136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6" name="CaixaDeTexto 95"/>
          <p:cNvSpPr txBox="1"/>
          <p:nvPr/>
        </p:nvSpPr>
        <p:spPr>
          <a:xfrm>
            <a:off x="7884368" y="54868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3,5m</a:t>
            </a:r>
            <a:endParaRPr lang="pt-BR" dirty="0"/>
          </a:p>
        </p:txBody>
      </p:sp>
      <p:sp>
        <p:nvSpPr>
          <p:cNvPr id="136" name="Elipse 135"/>
          <p:cNvSpPr/>
          <p:nvPr/>
        </p:nvSpPr>
        <p:spPr>
          <a:xfrm>
            <a:off x="3635896" y="2708920"/>
            <a:ext cx="360040" cy="21602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/>
          <p:cNvSpPr txBox="1"/>
          <p:nvPr/>
        </p:nvSpPr>
        <p:spPr>
          <a:xfrm>
            <a:off x="3923928" y="242088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16 x 18AWG</a:t>
            </a:r>
            <a:endParaRPr lang="pt-BR" sz="1000" dirty="0"/>
          </a:p>
        </p:txBody>
      </p:sp>
      <p:cxnSp>
        <p:nvCxnSpPr>
          <p:cNvPr id="162" name="Conector reto 161"/>
          <p:cNvCxnSpPr/>
          <p:nvPr/>
        </p:nvCxnSpPr>
        <p:spPr>
          <a:xfrm>
            <a:off x="7812360" y="1556792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63" name="Conector reto 162"/>
          <p:cNvCxnSpPr/>
          <p:nvPr/>
        </p:nvCxnSpPr>
        <p:spPr>
          <a:xfrm>
            <a:off x="7524328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1" name="Conector reto 180"/>
          <p:cNvCxnSpPr/>
          <p:nvPr/>
        </p:nvCxnSpPr>
        <p:spPr>
          <a:xfrm>
            <a:off x="6516216" y="1556792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2" name="Conector reto 181"/>
          <p:cNvCxnSpPr/>
          <p:nvPr/>
        </p:nvCxnSpPr>
        <p:spPr>
          <a:xfrm>
            <a:off x="6228184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5" name="Conector reto 184"/>
          <p:cNvCxnSpPr/>
          <p:nvPr/>
        </p:nvCxnSpPr>
        <p:spPr>
          <a:xfrm>
            <a:off x="5292080" y="1556792"/>
            <a:ext cx="36004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6" name="Conector reto 185"/>
          <p:cNvCxnSpPr/>
          <p:nvPr/>
        </p:nvCxnSpPr>
        <p:spPr>
          <a:xfrm>
            <a:off x="4932040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9" name="Conector reto 188"/>
          <p:cNvCxnSpPr/>
          <p:nvPr/>
        </p:nvCxnSpPr>
        <p:spPr>
          <a:xfrm>
            <a:off x="3995936" y="1556792"/>
            <a:ext cx="36004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0" name="Conector reto 189"/>
          <p:cNvCxnSpPr/>
          <p:nvPr/>
        </p:nvCxnSpPr>
        <p:spPr>
          <a:xfrm>
            <a:off x="3635896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3" name="Conector reto 192"/>
          <p:cNvCxnSpPr/>
          <p:nvPr/>
        </p:nvCxnSpPr>
        <p:spPr>
          <a:xfrm>
            <a:off x="2627784" y="1556792"/>
            <a:ext cx="36004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4" name="Conector reto 193"/>
          <p:cNvCxnSpPr/>
          <p:nvPr/>
        </p:nvCxnSpPr>
        <p:spPr>
          <a:xfrm>
            <a:off x="2267744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7" name="Conector reto 196"/>
          <p:cNvCxnSpPr/>
          <p:nvPr/>
        </p:nvCxnSpPr>
        <p:spPr>
          <a:xfrm>
            <a:off x="1331640" y="1556792"/>
            <a:ext cx="360040" cy="0"/>
          </a:xfrm>
          <a:prstGeom prst="lin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8" name="Conector reto 197"/>
          <p:cNvCxnSpPr/>
          <p:nvPr/>
        </p:nvCxnSpPr>
        <p:spPr>
          <a:xfrm>
            <a:off x="971600" y="16288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99" name="Conector reto 198"/>
          <p:cNvCxnSpPr/>
          <p:nvPr/>
        </p:nvCxnSpPr>
        <p:spPr>
          <a:xfrm>
            <a:off x="971600" y="1700808"/>
            <a:ext cx="72008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02" name="Conector de seta reta 301"/>
          <p:cNvCxnSpPr>
            <a:stCxn id="136" idx="7"/>
            <a:endCxn id="137" idx="2"/>
          </p:cNvCxnSpPr>
          <p:nvPr/>
        </p:nvCxnSpPr>
        <p:spPr>
          <a:xfrm flipV="1">
            <a:off x="3943209" y="2667109"/>
            <a:ext cx="395256" cy="734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tângulo 349"/>
          <p:cNvSpPr/>
          <p:nvPr/>
        </p:nvSpPr>
        <p:spPr>
          <a:xfrm>
            <a:off x="-1044624" y="6350169"/>
            <a:ext cx="1051316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 smtClean="0"/>
              <a:t>https://loja.conduscamp.com.br/cabo-aft-20x18-awg-blindado-em-malha-de-cobre-estanhado-preto-1/p?sku=6307910&amp;utm_source=google&amp;utm_medium=cpc&amp;utm_campaign=ecom_pmax_caboaft&amp;utm_term=&amp;gad_source=1&amp;gad_campaignid=21523427216&amp;gbraid=0AAAAADldM60W3hLKf9jFNMKc8HP-AeRXg&amp;gclid=CjwKCAjwzLHPBhBTEiwABaLsSvx7KSgKrEw8Ny61dZfiY2_fKLD8O9ZB-Yymh9z102_6xORP-DFP2BoCsxsQAvD_BwE</a:t>
            </a:r>
            <a:endParaRPr lang="pt-BR" sz="900" dirty="0"/>
          </a:p>
        </p:txBody>
      </p:sp>
      <p:cxnSp>
        <p:nvCxnSpPr>
          <p:cNvPr id="110" name="Conector reto 109"/>
          <p:cNvCxnSpPr/>
          <p:nvPr/>
        </p:nvCxnSpPr>
        <p:spPr>
          <a:xfrm>
            <a:off x="971600" y="1772816"/>
            <a:ext cx="72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</TotalTime>
  <Words>574</Words>
  <Application>Microsoft Office PowerPoint</Application>
  <PresentationFormat>Apresentação na tela (4:3)</PresentationFormat>
  <Paragraphs>217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Ferdinando</dc:creator>
  <cp:lastModifiedBy>Ferdinando</cp:lastModifiedBy>
  <cp:revision>211</cp:revision>
  <dcterms:created xsi:type="dcterms:W3CDTF">2025-05-16T21:59:07Z</dcterms:created>
  <dcterms:modified xsi:type="dcterms:W3CDTF">2026-05-23T16:25:38Z</dcterms:modified>
</cp:coreProperties>
</file>